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257" r:id="rId3"/>
    <p:sldId id="258" r:id="rId4"/>
    <p:sldId id="259" r:id="rId5"/>
    <p:sldId id="260" r:id="rId6"/>
    <p:sldId id="261" r:id="rId7"/>
    <p:sldId id="262" r:id="rId8"/>
    <p:sldId id="263" r:id="rId9"/>
    <p:sldId id="271" r:id="rId30"/>
    <p:sldId id="264" r:id="rId10"/>
    <p:sldId id="265" r:id="rId11"/>
    <p:sldId id="266" r:id="rId12"/>
    <p:sldId id="267" r:id="rId13"/>
    <p:sldId id="268" r:id="rId14"/>
    <p:sldId id="269" r:id="rId15"/>
    <p:sldId id="270" r:id="rId16"/>
  </p:sldIdLst>
  <p:sldSz cx="9144000" cy="5143500" type="screen16x9"/>
  <p:notesSz cx="6858000" cy="9144000"/>
  <p:embeddedFontLst>
    <p:embeddedFont>
      <p:font typeface="Lato" panose="020F0502020204030203" pitchFamily="34" charset="0"/>
      <p:regular r:id="rId18"/>
      <p:bold r:id="rId19"/>
      <p:italic r:id="rId20"/>
      <p:boldItalic r:id="rId21"/>
    </p:embeddedFont>
    <p:embeddedFont>
      <p:font typeface="Montserrat" panose="020F0502020204030204" pitchFamily="2"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2" d="100"/>
          <a:sy n="92" d="100"/>
        </p:scale>
        <p:origin x="936" y="7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 Id="rId24" Type="http://schemas.openxmlformats.org/officeDocument/2006/relationships/font" Target="fonts/font7.fntdata"/><Relationship Id="rId25" Type="http://schemas.openxmlformats.org/officeDocument/2006/relationships/font" Target="fonts/font8.fnt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54def3d9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54def3d9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f54def3d91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3f54def3d9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GB" sz="1200" dirty="0"/>
              <a:t>Cleaning: we checked for missing values (none) and removed 99 duplicate or near-duplicate articles, leaving 2,126.</a:t>
            </a:r>
            <a:endParaRPr sz="1200"/>
          </a:p>
          <a:p>
            <a:pPr marL="0" lvl="0" indent="0" algn="l" rtl="0">
              <a:spcBef>
                <a:spcPts val="0"/>
              </a:spcBef>
              <a:spcAft>
                <a:spcPts val="800"/>
              </a:spcAft>
              <a:buNone/>
            </a:pPr>
            <a:r>
              <a:rPr lang="en-GB" sz="1200" dirty="0"/>
              <a:t>Pipeline: lowercase, strip URLs and HTML tags, expand contractions, remove punctuation, remove stopwords, lemmatise.</a:t>
            </a:r>
            <a:endParaRPr sz="1200"/>
          </a:p>
          <a:p>
            <a:pPr marL="0" lvl="0" indent="0" algn="l" rtl="0">
              <a:spcBef>
                <a:spcPts val="0"/>
              </a:spcBef>
              <a:spcAft>
                <a:spcPts val="800"/>
              </a:spcAft>
              <a:buNone/>
            </a:pPr>
            <a:r>
              <a:rPr lang="en-GB" sz="1200" dirty="0"/>
              <a:t>We chose lemmatisation over stemming deliberately: stemming can mangle words into non-words, which hurts readability of everything downstream, especially our topic model's keyword lists and our word-embedding neighbours.</a:t>
            </a:r>
            <a:endParaRPr sz="1200"/>
          </a:p>
          <a:p>
            <a:pPr marL="0" lvl="0" indent="0" algn="l" rtl="0">
              <a:spcBef>
                <a:spcPts val="0"/>
              </a:spcBef>
              <a:spcAft>
                <a:spcPts val="800"/>
              </a:spcAft>
              <a:buNone/>
            </a:pPr>
            <a:r>
              <a:rPr lang="en-GB" sz="1200" dirty="0"/>
              <a:t>We kept two versions of the text throughout the whole project: the original raw text and this cleaned version. Our from-scratch models want the cleaned version, but our pretrained transformer, DistilBERT, performs better on the original uncleaned text, because it has its own subword tokenizer that already knows how to handle punctuation and capitalisation.</a:t>
            </a: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f54def3d91_0_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3f54def3d91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f54def3d91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f54def3d91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54def3d91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54def3d91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f54def3d91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3f54def3d91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g3f54def3d91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 name="Google Shape;185;g3f54def3d91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f54def3d91_0_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 name="Google Shape;195;g3f54def3d91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GB" sz="1200" dirty="0"/>
              <a:t>Our two deep learning models are at opposite ends: DistilBERT at 97.2%, the LSTM at 81.6% — while DistilBERT and a bag-of-words SVM differ by 0.2.</a:t>
            </a:r>
            <a:endParaRPr sz="1200"/>
          </a:p>
          <a:p>
            <a:pPr marL="0" lvl="0" indent="0" algn="l" rtl="0">
              <a:spcBef>
                <a:spcPts val="0"/>
              </a:spcBef>
              <a:spcAft>
                <a:spcPts val="800"/>
              </a:spcAft>
              <a:buNone/>
            </a:pPr>
            <a:r>
              <a:rPr lang="en-GB" sz="1200" dirty="0"/>
              <a:t>DistilBERT starts from representations learned on billions of words and only has to learn the mapping onto five labels. The LSTM starts from random noise and has to learn what words mean and how to classify at the same time.</a:t>
            </a:r>
            <a:endParaRPr sz="1200"/>
          </a:p>
          <a:p>
            <a:pPr marL="0" lvl="0" indent="0" algn="l" rtl="0">
              <a:spcBef>
                <a:spcPts val="0"/>
              </a:spcBef>
              <a:spcAft>
                <a:spcPts val="800"/>
              </a:spcAft>
              <a:buNone/>
            </a:pPr>
            <a:r>
              <a:rPr lang="en-GB" sz="1200" dirty="0"/>
              <a:t>The transformer's advantage is understanding context and word sense — but BBC categories are so lexically distinct that the word 'shares' or the word 'scored' basically settles the answer on its own.</a:t>
            </a:r>
            <a:endParaRPr sz="1200"/>
          </a:p>
          <a:p>
            <a:pPr marL="0" lvl="0" indent="0" algn="l" rtl="0">
              <a:spcBef>
                <a:spcPts val="0"/>
              </a:spcBef>
              <a:spcAft>
                <a:spcPts val="800"/>
              </a:spcAft>
              <a:buNone/>
            </a:pPr>
            <a:r>
              <a:rPr lang="en-GB" sz="1200" dirty="0"/>
              <a:t>The margin matters: DistilBERT beats our Linear SVM by 0.21 percentage points. On a test set of 932 articles, that's a difference of two articles. The honest reading is that a 67-million-parameter transformer and a linear model over word counts are tied.</a:t>
            </a: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f54def3d91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g3f54def3d91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f54def3d91_0_2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3f54def3d91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f54def3d91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f54def3d91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GB" sz="1200" dirty="0"/>
              <a:t>ROUGE-L scores the longest common subsequence against a reference answer — it rewards wording overlap.</a:t>
            </a:r>
            <a:endParaRPr sz="1200"/>
          </a:p>
          <a:p>
            <a:pPr marL="0" lvl="0" indent="0" algn="l" rtl="0">
              <a:spcBef>
                <a:spcPts val="0"/>
              </a:spcBef>
              <a:spcAft>
                <a:spcPts val="800"/>
              </a:spcAft>
              <a:buNone/>
            </a:pPr>
            <a:r>
              <a:rPr lang="en-GB" sz="1200" dirty="0"/>
              <a:t>Metric failure: our reference for 'What sport does Tiger Woods play?' was the full sentence 'Tiger Woods is a professional golfer.' An instruction-tuned model asked a direct question answers tersely — it says 'golf'. That answer is completely correct, and it scores exactly zero, because 'golf' and 'golfer' are different tokens with no common subsequence.</a:t>
            </a:r>
            <a:endParaRPr sz="1200"/>
          </a:p>
          <a:p>
            <a:pPr marL="0" lvl="0" indent="0" algn="l" rtl="0">
              <a:spcBef>
                <a:spcPts val="0"/>
              </a:spcBef>
              <a:spcAft>
                <a:spcPts val="800"/>
              </a:spcAft>
              <a:buNone/>
            </a:pPr>
            <a:r>
              <a:rPr lang="en-GB" sz="1200" dirty="0"/>
              <a:t>System failure: our other zero is 'Who won the Formula One championship?' → 'ivanovic', which is simply wrong. Four of ten answers are factually wrong — a real limitation of a small generator. Flan-T5-base is small, so its answers are terse, and some of our own questions aren't answerable from this corpus.</a:t>
            </a:r>
            <a:endParaRPr sz="1200"/>
          </a:p>
          <a:p>
            <a:pPr marL="0" lvl="0" indent="0" algn="l" rtl="0">
              <a:spcBef>
                <a:spcPts val="0"/>
              </a:spcBef>
              <a:spcAft>
                <a:spcPts val="800"/>
              </a:spcAft>
              <a:buNone/>
            </a:pPr>
            <a:r>
              <a:rPr lang="en-GB" sz="1200" dirty="0"/>
              <a:t>What we should have done is measure retrieval and generation separately — Recall@k for the retriever, and score answers with something like BERTScore that credits correct paraphrases.</a:t>
            </a:r>
            <a:endParaRPr sz="1200"/>
          </a:p>
          <a:p>
            <a:pPr marL="0" lvl="0" indent="0" algn="l" rtl="0">
              <a:spcBef>
                <a:spcPts val="0"/>
              </a:spcBef>
              <a:spcAft>
                <a:spcPts val="800"/>
              </a:spcAft>
              <a:buNone/>
            </a:pPr>
            <a:r>
              <a:rPr lang="en-GB" sz="1200" dirty="0"/>
              <a:t>Retrieval itself is sound: when we query 'Who won the football championship?', it returns two relevant football articles — and a review of the video game Championship Manager, tagged tech. That third hit isn't a bug; it's evidence the retriever is matching on meaning rather than keywords, because it understood 'championship' in a sense our query never disambiguated.</a:t>
            </a:r>
            <a:endParaRPr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f54def3d91_0_2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 name="Google Shape;229;g3f54def3d91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f54def3d91_0_2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3f54def3d91_0_2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GB" sz="1200" dirty="0"/>
              <a:t>We built a complete pipeline from raw text to a deployed, working chatbot: unsupervised topic discovery, three classical classifiers, two deep learning approaches, an explainability layer, and a retrieval-based question-answering system.</a:t>
            </a:r>
            <a:endParaRPr sz="1200"/>
          </a:p>
          <a:p>
            <a:pPr marL="0" lvl="0" indent="0" algn="l" rtl="0">
              <a:spcBef>
                <a:spcPts val="0"/>
              </a:spcBef>
              <a:spcAft>
                <a:spcPts val="800"/>
              </a:spcAft>
              <a:buNone/>
            </a:pPr>
            <a:r>
              <a:rPr lang="en-GB" sz="1200" dirty="0"/>
              <a:t>Pre-training, not depth, is what separates these models — and the best model on the leaderboard isn't always the right model to ship.</a:t>
            </a:r>
            <a:endParaRPr sz="1200"/>
          </a:p>
          <a:p>
            <a:pPr marL="0" lvl="0" indent="0" algn="l" rtl="0">
              <a:spcBef>
                <a:spcPts val="0"/>
              </a:spcBef>
              <a:spcAft>
                <a:spcPts val="800"/>
              </a:spcAft>
              <a:buNone/>
            </a:pPr>
            <a:r>
              <a:rPr lang="en-GB" sz="1200" dirty="0"/>
              <a:t>Future work: the cleanest next experiment is to initialise that same LSTM from pretrained GloVe or FastText embeddings. We'd also rebuild the RAG evaluation to measure retrieval and generation separately, and test our 'no headroom' explanation on a harder corpus — something like sarcasm or fine-grained sentiment.</a:t>
            </a:r>
            <a:endParaRPr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f54def3d91_0_2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f54def3d91_0_2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name="adj" fmla="val 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name="adj" fmla="val 50000"/>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150" y="1145825"/>
              <a:ext cx="3996600" cy="3996900"/>
            </a:xfrm>
            <a:prstGeom prst="diagStripe">
              <a:avLst>
                <a:gd name="adj" fmla="val 58774"/>
              </a:avLst>
            </a:prstGeom>
            <a:solidFill>
              <a:schemeClr val="lt1">
                <a:alpha val="303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rot="-5400000">
              <a:off x="1646" y="-75"/>
              <a:ext cx="2299800" cy="23001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flipH="1">
              <a:off x="652821" y="590035"/>
              <a:ext cx="2300100" cy="2299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Google Shape;16;p2"/>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a:endParaRPr/>
          </a:p>
        </p:txBody>
      </p:sp>
      <p:sp>
        <p:nvSpPr>
          <p:cNvPr id="17" name="Google Shape;17;p2"/>
          <p:cNvSpPr txBox="1">
            <a:spLocks noGrp="1"/>
          </p:cNvSpPr>
          <p:nvPr>
            <p:ph type="subTitle" idx="1"/>
          </p:nvPr>
        </p:nvSpPr>
        <p:spPr>
          <a:xfrm>
            <a:off x="5083950" y="3924925"/>
            <a:ext cx="34707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18" name="Google Shape;18;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3"/>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3"/>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3"/>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3"/>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3"/>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3"/>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3"/>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3"/>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3"/>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3"/>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3"/>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3"/>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Google Shape;39;p3"/>
          <p:cNvSpPr txBox="1">
            <a:spLocks noGrp="1"/>
          </p:cNvSpPr>
          <p:nvPr>
            <p:ph type="title"/>
          </p:nvPr>
        </p:nvSpPr>
        <p:spPr>
          <a:xfrm>
            <a:off x="823850" y="2053000"/>
            <a:ext cx="4587000" cy="11487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0" name="Google Shape;40;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4"/>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6" name="Google Shape;46;p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7" name="Google Shape;4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5"/>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5"/>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3" name="Google Shape;53;p5"/>
          <p:cNvSpPr txBox="1">
            <a:spLocks noGrp="1"/>
          </p:cNvSpPr>
          <p:nvPr>
            <p:ph type="body" idx="1"/>
          </p:nvPr>
        </p:nvSpPr>
        <p:spPr>
          <a:xfrm>
            <a:off x="1297500"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4" name="Google Shape;54;p5"/>
          <p:cNvSpPr txBox="1">
            <a:spLocks noGrp="1"/>
          </p:cNvSpPr>
          <p:nvPr>
            <p:ph type="body" idx="2"/>
          </p:nvPr>
        </p:nvSpPr>
        <p:spPr>
          <a:xfrm>
            <a:off x="4933221" y="1567550"/>
            <a:ext cx="3403200" cy="2911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5" name="Google Shape;55;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6"/>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 name="Google Shape;60;p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1" name="Google Shape;6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7"/>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7"/>
          <p:cNvSpPr txBox="1">
            <a:spLocks noGrp="1"/>
          </p:cNvSpPr>
          <p:nvPr>
            <p:ph type="title"/>
          </p:nvPr>
        </p:nvSpPr>
        <p:spPr>
          <a:xfrm>
            <a:off x="1297500" y="393750"/>
            <a:ext cx="3798900" cy="14931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67" name="Google Shape;67;p7"/>
          <p:cNvSpPr txBox="1">
            <a:spLocks noGrp="1"/>
          </p:cNvSpPr>
          <p:nvPr>
            <p:ph type="body" idx="1"/>
          </p:nvPr>
        </p:nvSpPr>
        <p:spPr>
          <a:xfrm>
            <a:off x="1297500" y="1972550"/>
            <a:ext cx="3798900" cy="2415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8" name="Google Shape;6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8"/>
            <p:cNvSpPr/>
            <p:nvPr/>
          </p:nvSpPr>
          <p:spPr>
            <a:xfrm rot="5400000">
              <a:off x="4840825" y="6000"/>
              <a:ext cx="42987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8"/>
            <p:cNvSpPr/>
            <p:nvPr/>
          </p:nvSpPr>
          <p:spPr>
            <a:xfrm rot="-5400000">
              <a:off x="5618399" y="123664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8"/>
            <p:cNvSpPr/>
            <p:nvPr/>
          </p:nvSpPr>
          <p:spPr>
            <a:xfrm flipH="1">
              <a:off x="5849857" y="144407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8"/>
            <p:cNvSpPr/>
            <p:nvPr/>
          </p:nvSpPr>
          <p:spPr>
            <a:xfrm rot="-5400000">
              <a:off x="5987081" y="246974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8"/>
            <p:cNvSpPr/>
            <p:nvPr/>
          </p:nvSpPr>
          <p:spPr>
            <a:xfrm flipH="1">
              <a:off x="6222115" y="2677179"/>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8"/>
            <p:cNvSpPr/>
            <p:nvPr/>
          </p:nvSpPr>
          <p:spPr>
            <a:xfrm rot="-5400000">
              <a:off x="6675341" y="186224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8"/>
            <p:cNvSpPr/>
            <p:nvPr/>
          </p:nvSpPr>
          <p:spPr>
            <a:xfrm flipH="1">
              <a:off x="6908099" y="2069680"/>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rot="-5400000">
              <a:off x="6861141" y="247808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8"/>
            <p:cNvSpPr/>
            <p:nvPr/>
          </p:nvSpPr>
          <p:spPr>
            <a:xfrm flipH="1">
              <a:off x="7965266" y="269319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8"/>
            <p:cNvSpPr/>
            <p:nvPr/>
          </p:nvSpPr>
          <p:spPr>
            <a:xfrm flipH="1">
              <a:off x="8145082" y="330903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rot="-5400000">
              <a:off x="7047599" y="309534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flipH="1">
              <a:off x="7276649" y="3302781"/>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8"/>
            <p:cNvSpPr/>
            <p:nvPr/>
          </p:nvSpPr>
          <p:spPr>
            <a:xfrm rot="-5400000">
              <a:off x="7227414" y="3711189"/>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8"/>
            <p:cNvSpPr/>
            <p:nvPr/>
          </p:nvSpPr>
          <p:spPr>
            <a:xfrm flipH="1">
              <a:off x="7462448" y="391862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8"/>
            <p:cNvSpPr/>
            <p:nvPr/>
          </p:nvSpPr>
          <p:spPr>
            <a:xfrm rot="-5400000">
              <a:off x="8102491" y="37188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flipH="1">
              <a:off x="8334533" y="392629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rot="-5400000">
              <a:off x="8288290" y="433470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 name="Google Shape;89;p8"/>
          <p:cNvSpPr txBox="1">
            <a:spLocks noGrp="1"/>
          </p:cNvSpPr>
          <p:nvPr>
            <p:ph type="title"/>
          </p:nvPr>
        </p:nvSpPr>
        <p:spPr>
          <a:xfrm>
            <a:off x="823850" y="866775"/>
            <a:ext cx="4587000" cy="35211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0" name="Google Shape;9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9"/>
            <p:cNvSpPr/>
            <p:nvPr/>
          </p:nvSpPr>
          <p:spPr>
            <a:xfrm flipH="1">
              <a:off x="229050" y="588489"/>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9"/>
          <p:cNvSpPr txBox="1">
            <a:spLocks noGrp="1"/>
          </p:cNvSpPr>
          <p:nvPr>
            <p:ph type="title"/>
          </p:nvPr>
        </p:nvSpPr>
        <p:spPr>
          <a:xfrm>
            <a:off x="1297500" y="1658325"/>
            <a:ext cx="3036300" cy="1751700"/>
          </a:xfrm>
          <a:prstGeom prst="rect">
            <a:avLst/>
          </a:prstGeom>
        </p:spPr>
        <p:txBody>
          <a:bodyPr spcFirstLastPara="1" wrap="square" lIns="91425" tIns="91425" rIns="91425" bIns="91425" anchor="t"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96" name="Google Shape;96;p9"/>
          <p:cNvSpPr txBox="1">
            <a:spLocks noGrp="1"/>
          </p:cNvSpPr>
          <p:nvPr>
            <p:ph type="subTitle" idx="1"/>
          </p:nvPr>
        </p:nvSpPr>
        <p:spPr>
          <a:xfrm>
            <a:off x="1297500" y="3538000"/>
            <a:ext cx="3036300" cy="506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a:endParaRPr/>
          </a:p>
        </p:txBody>
      </p:sp>
      <p:sp>
        <p:nvSpPr>
          <p:cNvPr id="97" name="Google Shape;97;p9"/>
          <p:cNvSpPr txBox="1">
            <a:spLocks noGrp="1"/>
          </p:cNvSpPr>
          <p:nvPr>
            <p:ph type="body" idx="2"/>
          </p:nvPr>
        </p:nvSpPr>
        <p:spPr>
          <a:xfrm>
            <a:off x="4648200" y="1696600"/>
            <a:ext cx="3676800" cy="2347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98" name="Google Shape;9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0"/>
            <p:cNvSpPr/>
            <p:nvPr/>
          </p:nvSpPr>
          <p:spPr>
            <a:xfrm flipH="1">
              <a:off x="154125" y="3925529"/>
              <a:ext cx="544800" cy="544800"/>
            </a:xfrm>
            <a:prstGeom prst="diagStripe">
              <a:avLst>
                <a:gd name="adj" fmla="val 50000"/>
              </a:avLst>
            </a:prstGeom>
            <a:solidFill>
              <a:schemeClr val="lt1">
                <a:alpha val="96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10"/>
          <p:cNvSpPr txBox="1">
            <a:spLocks noGrp="1"/>
          </p:cNvSpPr>
          <p:nvPr>
            <p:ph type="body" idx="1"/>
          </p:nvPr>
        </p:nvSpPr>
        <p:spPr>
          <a:xfrm>
            <a:off x="812725" y="4305375"/>
            <a:ext cx="6936000" cy="523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300"/>
              <a:buNone/>
              <a:defRPr/>
            </a:lvl1pPr>
          </a:lstStyle>
          <a:p>
            <a:endParaRPr/>
          </a:p>
        </p:txBody>
      </p:sp>
      <p:sp>
        <p:nvSpPr>
          <p:cNvPr id="104" name="Google Shape;10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name="adj" fmla="val 49469"/>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1"/>
            <p:cNvSpPr/>
            <p:nvPr/>
          </p:nvSpPr>
          <p:spPr>
            <a:xfrm rot="5400000">
              <a:off x="4841125" y="5700"/>
              <a:ext cx="4298100" cy="4286700"/>
            </a:xfrm>
            <a:prstGeom prst="diagStripe">
              <a:avLst>
                <a:gd name="adj" fmla="val 0"/>
              </a:avLst>
            </a:prstGeom>
            <a:solidFill>
              <a:schemeClr val="lt1">
                <a:alpha val="346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rot="-5400000">
              <a:off x="5618399" y="123646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1"/>
            <p:cNvSpPr/>
            <p:nvPr/>
          </p:nvSpPr>
          <p:spPr>
            <a:xfrm flipH="1">
              <a:off x="5849857" y="1443956"/>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1"/>
            <p:cNvSpPr/>
            <p:nvPr/>
          </p:nvSpPr>
          <p:spPr>
            <a:xfrm rot="-5400000">
              <a:off x="5987081" y="24694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11"/>
            <p:cNvSpPr/>
            <p:nvPr/>
          </p:nvSpPr>
          <p:spPr>
            <a:xfrm flipH="1">
              <a:off x="6222115" y="267695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1"/>
            <p:cNvSpPr/>
            <p:nvPr/>
          </p:nvSpPr>
          <p:spPr>
            <a:xfrm rot="-5400000">
              <a:off x="6675341" y="1862018"/>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flipH="1">
              <a:off x="6908099" y="2069505"/>
              <a:ext cx="808800" cy="808800"/>
            </a:xfrm>
            <a:prstGeom prst="diagStrip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1"/>
            <p:cNvSpPr/>
            <p:nvPr/>
          </p:nvSpPr>
          <p:spPr>
            <a:xfrm rot="-5400000">
              <a:off x="6861141" y="247781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11"/>
            <p:cNvSpPr/>
            <p:nvPr/>
          </p:nvSpPr>
          <p:spPr>
            <a:xfrm flipH="1">
              <a:off x="7965266" y="269296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1"/>
            <p:cNvSpPr/>
            <p:nvPr/>
          </p:nvSpPr>
          <p:spPr>
            <a:xfrm flipH="1">
              <a:off x="8145082" y="330875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1"/>
            <p:cNvSpPr/>
            <p:nvPr/>
          </p:nvSpPr>
          <p:spPr>
            <a:xfrm rot="-5400000">
              <a:off x="7047599" y="309501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1"/>
            <p:cNvSpPr/>
            <p:nvPr/>
          </p:nvSpPr>
          <p:spPr>
            <a:xfrm flipH="1">
              <a:off x="7276649" y="3302502"/>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11"/>
            <p:cNvSpPr/>
            <p:nvPr/>
          </p:nvSpPr>
          <p:spPr>
            <a:xfrm rot="-5400000">
              <a:off x="7227414" y="3710807"/>
              <a:ext cx="808800" cy="808800"/>
            </a:xfrm>
            <a:prstGeom prst="diagStripe">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1"/>
            <p:cNvSpPr/>
            <p:nvPr/>
          </p:nvSpPr>
          <p:spPr>
            <a:xfrm flipH="1">
              <a:off x="7462448" y="3918294"/>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1"/>
            <p:cNvSpPr/>
            <p:nvPr/>
          </p:nvSpPr>
          <p:spPr>
            <a:xfrm rot="-5400000">
              <a:off x="8102491" y="3718473"/>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1"/>
            <p:cNvSpPr/>
            <p:nvPr/>
          </p:nvSpPr>
          <p:spPr>
            <a:xfrm flipH="1">
              <a:off x="8334533" y="3925960"/>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11"/>
            <p:cNvSpPr/>
            <p:nvPr/>
          </p:nvSpPr>
          <p:spPr>
            <a:xfrm rot="-5400000">
              <a:off x="8288290" y="4334265"/>
              <a:ext cx="808800" cy="808800"/>
            </a:xfrm>
            <a:prstGeom prst="diagStripe">
              <a:avLst>
                <a:gd name="adj" fmla="val 50000"/>
              </a:avLst>
            </a:prstGeom>
            <a:solidFill>
              <a:schemeClr val="lt1">
                <a:alpha val="73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5" name="Google Shape;125;p11"/>
          <p:cNvSpPr txBox="1">
            <a:spLocks noGrp="1"/>
          </p:cNvSpPr>
          <p:nvPr>
            <p:ph type="title" hasCustomPrompt="1"/>
          </p:nvPr>
        </p:nvSpPr>
        <p:spPr>
          <a:xfrm>
            <a:off x="823850" y="1284675"/>
            <a:ext cx="4776000" cy="1300800"/>
          </a:xfrm>
          <a:prstGeom prst="rect">
            <a:avLst/>
          </a:prstGeom>
        </p:spPr>
        <p:txBody>
          <a:bodyPr spcFirstLastPara="1" wrap="square" lIns="91425" tIns="91425" rIns="91425" bIns="91425" anchor="t" anchorCtr="0">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a:spLocks noGrp="1"/>
          </p:cNvSpPr>
          <p:nvPr>
            <p:ph type="body" idx="1"/>
          </p:nvPr>
        </p:nvSpPr>
        <p:spPr>
          <a:xfrm>
            <a:off x="823850" y="2643124"/>
            <a:ext cx="4776000" cy="12189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27" name="Google Shape;12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28"/>
        <p:cNvGrpSpPr/>
        <p:nvPr/>
      </p:nvGrpSpPr>
      <p:grpSpPr>
        <a:xfrm>
          <a:off x="0" y="0"/>
          <a:ext cx="0" cy="0"/>
          <a:chOff x="0" y="0"/>
          <a:chExt cx="0" cy="0"/>
        </a:xfrm>
      </p:grpSpPr>
      <p:sp>
        <p:nvSpPr>
          <p:cNvPr id="129" name="Google Shape;12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ocus">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marL="914400" lvl="1"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marL="1371600" lvl="2"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marL="1828800" lvl="3"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marL="2286000" lvl="4"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marL="2743200" lvl="5"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marL="3200400" lvl="6"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marL="3657600" lvl="7"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marL="4114800" lvl="8" indent="-29845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3"/>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NLP BBC Project</a:t>
            </a:r>
            <a:endParaRPr/>
          </a:p>
        </p:txBody>
      </p:sp>
      <p:sp>
        <p:nvSpPr>
          <p:cNvPr id="135" name="Google Shape;135;p13"/>
          <p:cNvSpPr txBox="1">
            <a:spLocks noGrp="1"/>
          </p:cNvSpPr>
          <p:nvPr>
            <p:ph type="subTitle" idx="1"/>
          </p:nvPr>
        </p:nvSpPr>
        <p:spPr>
          <a:xfrm>
            <a:off x="5083950" y="3924925"/>
            <a:ext cx="3470700" cy="506100"/>
          </a:xfrm>
          <a:prstGeom prst="rect">
            <a:avLst/>
          </a:prstGeom>
        </p:spPr>
        <p:txBody>
          <a:bodyPr spcFirstLastPara="1" wrap="square" lIns="91425" tIns="91425" rIns="91425" bIns="91425" anchor="t" anchorCtr="0">
            <a:normAutofit lnSpcReduction="20000"/>
          </a:bodyPr>
          <a:lstStyle/>
          <a:p>
            <a:pPr marL="0" lvl="0" indent="0" algn="l" rtl="0">
              <a:spcBef>
                <a:spcPts val="0"/>
              </a:spcBef>
              <a:spcAft>
                <a:spcPts val="0"/>
              </a:spcAft>
              <a:buNone/>
            </a:pPr>
            <a:r>
              <a:rPr lang="en-GB">
                <a:latin typeface="Arial"/>
                <a:ea typeface="Arial"/>
                <a:cs typeface="Arial"/>
                <a:sym typeface="Arial"/>
              </a:rPr>
              <a:t>George Antonakis · Samuel Cook · Orestis Pappas </a:t>
            </a:r>
            <a:endParaRPr>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What is our project</a:t>
            </a:r>
            <a:endParaRPr/>
          </a:p>
        </p:txBody>
      </p:sp>
      <p:sp>
        <p:nvSpPr>
          <p:cNvPr id="141" name="Google Shape;141;p14"/>
          <p:cNvSpPr txBox="1">
            <a:spLocks noGrp="1"/>
          </p:cNvSpPr>
          <p:nvPr>
            <p:ph type="body" idx="1"/>
          </p:nvPr>
        </p:nvSpPr>
        <p:spPr>
          <a:xfrm>
            <a:off x="54150" y="1337225"/>
            <a:ext cx="4306200" cy="3806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latin typeface="Arial"/>
                <a:ea typeface="Arial"/>
                <a:cs typeface="Arial"/>
                <a:sym typeface="Arial"/>
              </a:rPr>
              <a:t>end-to-end NLP pipeline built on the BBC News dataset </a:t>
            </a:r>
            <a:endParaRPr>
              <a:latin typeface="Arial"/>
              <a:ea typeface="Arial"/>
              <a:cs typeface="Arial"/>
              <a:sym typeface="Arial"/>
            </a:endParaRPr>
          </a:p>
          <a:p>
            <a:pPr marL="0" lvl="0" indent="0" algn="l" rtl="0">
              <a:spcBef>
                <a:spcPts val="1200"/>
              </a:spcBef>
              <a:spcAft>
                <a:spcPts val="0"/>
              </a:spcAft>
              <a:buNone/>
            </a:pPr>
            <a:r>
              <a:rPr lang="en-GB">
                <a:latin typeface="Arial"/>
                <a:ea typeface="Arial"/>
                <a:cs typeface="Arial"/>
                <a:sym typeface="Arial"/>
              </a:rPr>
              <a:t>2,225 news articles from 2004 and 2005 </a:t>
            </a:r>
            <a:endParaRPr>
              <a:latin typeface="Arial"/>
              <a:ea typeface="Arial"/>
              <a:cs typeface="Arial"/>
              <a:sym typeface="Arial"/>
            </a:endParaRPr>
          </a:p>
          <a:p>
            <a:pPr marL="0" lvl="0" indent="0" algn="l" rtl="0">
              <a:spcBef>
                <a:spcPts val="1200"/>
              </a:spcBef>
              <a:spcAft>
                <a:spcPts val="0"/>
              </a:spcAft>
              <a:buNone/>
            </a:pPr>
            <a:r>
              <a:rPr lang="en-GB">
                <a:latin typeface="Arial"/>
                <a:ea typeface="Arial"/>
                <a:cs typeface="Arial"/>
                <a:sym typeface="Arial"/>
              </a:rPr>
              <a:t>five categories: business, entertainment, politics, sport, and tech.  </a:t>
            </a:r>
            <a:endParaRPr>
              <a:latin typeface="Arial"/>
              <a:ea typeface="Arial"/>
              <a:cs typeface="Arial"/>
              <a:sym typeface="Arial"/>
            </a:endParaRPr>
          </a:p>
          <a:p>
            <a:pPr marL="0" lvl="0" indent="0" algn="l" rtl="0">
              <a:spcBef>
                <a:spcPts val="1200"/>
              </a:spcBef>
              <a:spcAft>
                <a:spcPts val="0"/>
              </a:spcAft>
              <a:buNone/>
            </a:pPr>
            <a:endParaRPr>
              <a:latin typeface="Arial"/>
              <a:ea typeface="Arial"/>
              <a:cs typeface="Arial"/>
              <a:sym typeface="Arial"/>
            </a:endParaRPr>
          </a:p>
          <a:p>
            <a:pPr marL="0" lvl="0" indent="0" algn="l" rtl="0">
              <a:spcBef>
                <a:spcPts val="1200"/>
              </a:spcBef>
              <a:spcAft>
                <a:spcPts val="0"/>
              </a:spcAft>
              <a:buNone/>
            </a:pPr>
            <a:r>
              <a:rPr lang="en-GB">
                <a:latin typeface="Arial"/>
                <a:ea typeface="Arial"/>
                <a:cs typeface="Arial"/>
                <a:sym typeface="Arial"/>
              </a:rPr>
              <a:t>The data comes from HuggingFace's </a:t>
            </a:r>
            <a:endParaRPr>
              <a:latin typeface="Arial"/>
              <a:ea typeface="Arial"/>
              <a:cs typeface="Arial"/>
              <a:sym typeface="Arial"/>
            </a:endParaRPr>
          </a:p>
          <a:p>
            <a:pPr marL="0" lvl="0" indent="0" algn="l" rtl="0">
              <a:spcBef>
                <a:spcPts val="1200"/>
              </a:spcBef>
              <a:spcAft>
                <a:spcPts val="1200"/>
              </a:spcAft>
              <a:buNone/>
            </a:pPr>
            <a:r>
              <a:rPr lang="en-GB">
                <a:latin typeface="Arial"/>
                <a:ea typeface="Arial"/>
                <a:cs typeface="Arial"/>
                <a:sym typeface="Arial"/>
              </a:rPr>
              <a:t>The categories are reasonably balanced — sport and business are the largest, tech and entertainment slightly smaller, but no category dominates. </a:t>
            </a:r>
            <a:endParaRPr>
              <a:latin typeface="Arial"/>
              <a:ea typeface="Arial"/>
              <a:cs typeface="Arial"/>
              <a:sym typeface="Arial"/>
            </a:endParaRPr>
          </a:p>
        </p:txBody>
      </p:sp>
      <p:pic>
        <p:nvPicPr>
          <p:cNvPr id="142" name="Google Shape;142;p14"/>
          <p:cNvPicPr preferRelativeResize="0"/>
          <p:nvPr/>
        </p:nvPicPr>
        <p:blipFill>
          <a:blip r:embed="rId3">
            <a:alphaModFix/>
          </a:blip>
          <a:stretch>
            <a:fillRect/>
          </a:stretch>
        </p:blipFill>
        <p:spPr>
          <a:xfrm>
            <a:off x="4360361" y="3314200"/>
            <a:ext cx="4783639" cy="1829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p:cNvGrpSpPr/>
        <p:nvPr/>
      </p:nvGrpSpPr>
      <p:grpSpPr>
        <a:xfrm>
          <a:off x="0" y="0"/>
          <a:ext cx="0" cy="0"/>
          <a:chOff x="0" y="0"/>
          <a:chExt cx="0" cy="0"/>
        </a:xfrm>
      </p:grpSpPr>
      <p:sp>
        <p:nvSpPr>
          <p:cNvPr id="299" name="Title"/>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Preprocessing</a:t>
            </a:r>
            <a:endParaRPr/>
          </a:p>
        </p:txBody>
      </p:sp>
      <p:sp>
        <p:nvSpPr>
          <p:cNvPr id="300" name="TextBox 300"/>
          <p:cNvSpPr txBox="1"/>
          <p:nvPr/>
        </p:nvSpPr>
        <p:spPr>
          <a:xfrm>
            <a:off x="257000" y="1560000"/>
            <a:ext cx="1330000" cy="620000"/>
          </a:xfrm>
          <a:prstGeom prst="roundRect">
            <a:avLst>
              <a:gd name="adj" fmla="val 8000"/>
            </a:avLst>
          </a:prstGeom>
          <a:solidFill>
            <a:schemeClr val="lt2">
              <a:alpha val="25000"/>
            </a:schemeClr>
          </a:solidFill>
          <a:ln>
            <a:noFill/>
          </a:ln>
        </p:spPr>
        <p:txBody>
          <a:bodyPr spcFirstLastPara="1" wrap="square" lIns="91425" tIns="45700" rIns="91425" bIns="45700" anchor="ctr" anchorCtr="0">
            <a:noAutofit/>
          </a:bodyPr>
          <a:lstStyle/>
          <a:p>
            <a:pPr marL="0" lvl="0" indent="0" algn="ctr" rtl="0">
              <a:lnSpc>
                <a:spcPct val="115000"/>
              </a:lnSpc>
              <a:spcBef>
                <a:spcPts val="0"/>
              </a:spcBef>
              <a:spcAft>
                <a:spcPts val="0"/>
              </a:spcAft>
              <a:buNone/>
            </a:pPr>
            <a:r>
              <a:rPr lang="en-GB" sz="1050" dirty="0">
                <a:solidFill>
                  <a:schemeClr val="lt1"/>
                </a:solidFill>
              </a:rPr>
              <a:t>Lowercase</a:t>
            </a:r>
            <a:endParaRPr sz="1050">
              <a:solidFill>
                <a:schemeClr val="lt1"/>
              </a:solidFill>
            </a:endParaRPr>
          </a:p>
        </p:txBody>
      </p:sp>
      <p:sp>
        <p:nvSpPr>
          <p:cNvPr id="301" name="TextBox 301"/>
          <p:cNvSpPr txBox="1"/>
          <p:nvPr/>
        </p:nvSpPr>
        <p:spPr>
          <a:xfrm>
            <a:off x="1717000" y="1560000"/>
            <a:ext cx="1330000" cy="620000"/>
          </a:xfrm>
          <a:prstGeom prst="roundRect">
            <a:avLst>
              <a:gd name="adj" fmla="val 8000"/>
            </a:avLst>
          </a:prstGeom>
          <a:solidFill>
            <a:schemeClr val="lt2">
              <a:alpha val="25000"/>
            </a:schemeClr>
          </a:solidFill>
          <a:ln>
            <a:noFill/>
          </a:ln>
        </p:spPr>
        <p:txBody>
          <a:bodyPr spcFirstLastPara="1" wrap="square" lIns="91425" tIns="45700" rIns="91425" bIns="45700" anchor="ctr" anchorCtr="0">
            <a:noAutofit/>
          </a:bodyPr>
          <a:lstStyle/>
          <a:p>
            <a:pPr marL="0" lvl="0" indent="0" algn="ctr" rtl="0">
              <a:lnSpc>
                <a:spcPct val="115000"/>
              </a:lnSpc>
              <a:spcBef>
                <a:spcPts val="0"/>
              </a:spcBef>
              <a:spcAft>
                <a:spcPts val="0"/>
              </a:spcAft>
              <a:buNone/>
            </a:pPr>
            <a:r>
              <a:rPr lang="en-GB" sz="1050" dirty="0">
                <a:solidFill>
                  <a:schemeClr val="lt1"/>
                </a:solidFill>
              </a:rPr>
              <a:t>Strip URLs &amp; HTML</a:t>
            </a:r>
            <a:endParaRPr sz="1050">
              <a:solidFill>
                <a:schemeClr val="lt1"/>
              </a:solidFill>
            </a:endParaRPr>
          </a:p>
        </p:txBody>
      </p:sp>
      <p:sp>
        <p:nvSpPr>
          <p:cNvPr id="302" name="TextBox 302"/>
          <p:cNvSpPr txBox="1"/>
          <p:nvPr/>
        </p:nvSpPr>
        <p:spPr>
          <a:xfrm>
            <a:off x="3177000" y="1560000"/>
            <a:ext cx="1330000" cy="620000"/>
          </a:xfrm>
          <a:prstGeom prst="roundRect">
            <a:avLst>
              <a:gd name="adj" fmla="val 8000"/>
            </a:avLst>
          </a:prstGeom>
          <a:solidFill>
            <a:schemeClr val="lt2">
              <a:alpha val="25000"/>
            </a:schemeClr>
          </a:solidFill>
          <a:ln>
            <a:noFill/>
          </a:ln>
        </p:spPr>
        <p:txBody>
          <a:bodyPr spcFirstLastPara="1" wrap="square" lIns="91425" tIns="45700" rIns="91425" bIns="45700" anchor="ctr" anchorCtr="0">
            <a:noAutofit/>
          </a:bodyPr>
          <a:lstStyle/>
          <a:p>
            <a:pPr marL="0" lvl="0" indent="0" algn="ctr" rtl="0">
              <a:lnSpc>
                <a:spcPct val="115000"/>
              </a:lnSpc>
              <a:spcBef>
                <a:spcPts val="0"/>
              </a:spcBef>
              <a:spcAft>
                <a:spcPts val="0"/>
              </a:spcAft>
              <a:buNone/>
            </a:pPr>
            <a:r>
              <a:rPr lang="en-GB" sz="1050" dirty="0">
                <a:solidFill>
                  <a:schemeClr val="lt1"/>
                </a:solidFill>
              </a:rPr>
              <a:t>Expand contractions</a:t>
            </a:r>
            <a:endParaRPr sz="1050">
              <a:solidFill>
                <a:schemeClr val="lt1"/>
              </a:solidFill>
            </a:endParaRPr>
          </a:p>
        </p:txBody>
      </p:sp>
      <p:sp>
        <p:nvSpPr>
          <p:cNvPr id="303" name="TextBox 303"/>
          <p:cNvSpPr txBox="1"/>
          <p:nvPr/>
        </p:nvSpPr>
        <p:spPr>
          <a:xfrm>
            <a:off x="4637000" y="1560000"/>
            <a:ext cx="1330000" cy="620000"/>
          </a:xfrm>
          <a:prstGeom prst="roundRect">
            <a:avLst>
              <a:gd name="adj" fmla="val 8000"/>
            </a:avLst>
          </a:prstGeom>
          <a:solidFill>
            <a:schemeClr val="lt2">
              <a:alpha val="25000"/>
            </a:schemeClr>
          </a:solidFill>
          <a:ln>
            <a:noFill/>
          </a:ln>
        </p:spPr>
        <p:txBody>
          <a:bodyPr spcFirstLastPara="1" wrap="square" lIns="91425" tIns="45700" rIns="91425" bIns="45700" anchor="ctr" anchorCtr="0">
            <a:noAutofit/>
          </a:bodyPr>
          <a:lstStyle/>
          <a:p>
            <a:pPr marL="0" lvl="0" indent="0" algn="ctr" rtl="0">
              <a:lnSpc>
                <a:spcPct val="115000"/>
              </a:lnSpc>
              <a:spcBef>
                <a:spcPts val="0"/>
              </a:spcBef>
              <a:spcAft>
                <a:spcPts val="0"/>
              </a:spcAft>
              <a:buNone/>
            </a:pPr>
            <a:r>
              <a:rPr lang="en-GB" sz="1050" dirty="0">
                <a:solidFill>
                  <a:schemeClr val="lt1"/>
                </a:solidFill>
              </a:rPr>
              <a:t>Remove punctuation</a:t>
            </a:r>
            <a:endParaRPr sz="1050">
              <a:solidFill>
                <a:schemeClr val="lt1"/>
              </a:solidFill>
            </a:endParaRPr>
          </a:p>
        </p:txBody>
      </p:sp>
      <p:sp>
        <p:nvSpPr>
          <p:cNvPr id="304" name="TextBox 304"/>
          <p:cNvSpPr txBox="1"/>
          <p:nvPr/>
        </p:nvSpPr>
        <p:spPr>
          <a:xfrm>
            <a:off x="6097000" y="1560000"/>
            <a:ext cx="1330000" cy="620000"/>
          </a:xfrm>
          <a:prstGeom prst="roundRect">
            <a:avLst>
              <a:gd name="adj" fmla="val 8000"/>
            </a:avLst>
          </a:prstGeom>
          <a:solidFill>
            <a:schemeClr val="lt2">
              <a:alpha val="25000"/>
            </a:schemeClr>
          </a:solidFill>
          <a:ln>
            <a:noFill/>
          </a:ln>
        </p:spPr>
        <p:txBody>
          <a:bodyPr spcFirstLastPara="1" wrap="square" lIns="91425" tIns="45700" rIns="91425" bIns="45700" anchor="ctr" anchorCtr="0">
            <a:noAutofit/>
          </a:bodyPr>
          <a:lstStyle/>
          <a:p>
            <a:pPr marL="0" lvl="0" indent="0" algn="ctr" rtl="0">
              <a:lnSpc>
                <a:spcPct val="115000"/>
              </a:lnSpc>
              <a:spcBef>
                <a:spcPts val="0"/>
              </a:spcBef>
              <a:spcAft>
                <a:spcPts val="0"/>
              </a:spcAft>
              <a:buNone/>
            </a:pPr>
            <a:r>
              <a:rPr lang="en-GB" sz="1050" dirty="0">
                <a:solidFill>
                  <a:schemeClr val="lt1"/>
                </a:solidFill>
              </a:rPr>
              <a:t>Remove stopwords</a:t>
            </a:r>
            <a:endParaRPr sz="1050">
              <a:solidFill>
                <a:schemeClr val="lt1"/>
              </a:solidFill>
            </a:endParaRPr>
          </a:p>
        </p:txBody>
      </p:sp>
      <p:sp>
        <p:nvSpPr>
          <p:cNvPr id="305" name="TextBox 305"/>
          <p:cNvSpPr txBox="1"/>
          <p:nvPr/>
        </p:nvSpPr>
        <p:spPr>
          <a:xfrm>
            <a:off x="7557000" y="1560000"/>
            <a:ext cx="1330000" cy="620000"/>
          </a:xfrm>
          <a:prstGeom prst="roundRect">
            <a:avLst>
              <a:gd name="adj" fmla="val 8000"/>
            </a:avLst>
          </a:prstGeom>
          <a:solidFill>
            <a:schemeClr val="lt2">
              <a:alpha val="25000"/>
            </a:schemeClr>
          </a:solidFill>
          <a:ln>
            <a:noFill/>
          </a:ln>
        </p:spPr>
        <p:txBody>
          <a:bodyPr spcFirstLastPara="1" wrap="square" lIns="91425" tIns="45700" rIns="91425" bIns="45700" anchor="ctr" anchorCtr="0">
            <a:noAutofit/>
          </a:bodyPr>
          <a:lstStyle/>
          <a:p>
            <a:pPr marL="0" lvl="0" indent="0" algn="ctr" rtl="0">
              <a:lnSpc>
                <a:spcPct val="115000"/>
              </a:lnSpc>
              <a:spcBef>
                <a:spcPts val="0"/>
              </a:spcBef>
              <a:spcAft>
                <a:spcPts val="0"/>
              </a:spcAft>
              <a:buNone/>
            </a:pPr>
            <a:r>
              <a:rPr lang="en-GB" sz="1050" dirty="0">
                <a:solidFill>
                  <a:schemeClr val="lt1"/>
                </a:solidFill>
              </a:rPr>
              <a:t>Lemmatise</a:t>
            </a:r>
            <a:endParaRPr sz="1050">
              <a:solidFill>
                <a:schemeClr val="lt1"/>
              </a:solidFill>
            </a:endParaRPr>
          </a:p>
        </p:txBody>
      </p:sp>
      <p:sp>
        <p:nvSpPr>
          <p:cNvPr id="310" name="TextBox 310"/>
          <p:cNvSpPr txBox="1"/>
          <p:nvPr/>
        </p:nvSpPr>
        <p:spPr>
          <a:xfrm>
            <a:off x="972000" y="2500000"/>
            <a:ext cx="2400000" cy="11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0"/>
              </a:spcAft>
              <a:buNone/>
            </a:pPr>
            <a:r>
              <a:rPr lang="en-GB" sz="2800" b="1" dirty="0">
                <a:solidFill>
                  <a:schemeClr val="lt1"/>
                </a:solidFill>
              </a:rPr>
              <a:t>0</a:t>
            </a:r>
            <a:endParaRPr sz="2800">
              <a:solidFill>
                <a:schemeClr val="lt1"/>
              </a:solidFill>
            </a:endParaRPr>
          </a:p>
          <a:p>
            <a:pPr marL="0" lvl="0" indent="0" algn="ctr" rtl="0">
              <a:lnSpc>
                <a:spcPct val="115000"/>
              </a:lnSpc>
              <a:spcBef>
                <a:spcPts val="0"/>
              </a:spcBef>
              <a:spcAft>
                <a:spcPts val="0"/>
              </a:spcAft>
              <a:buNone/>
            </a:pPr>
            <a:r>
              <a:rPr lang="en-GB" sz="1100" dirty="0">
                <a:solidFill>
                  <a:schemeClr val="lt1"/>
                </a:solidFill>
              </a:rPr>
              <a:t>missing values</a:t>
            </a:r>
            <a:endParaRPr sz="1100">
              <a:solidFill>
                <a:schemeClr val="lt1"/>
              </a:solidFill>
            </a:endParaRPr>
          </a:p>
        </p:txBody>
      </p:sp>
      <p:sp>
        <p:nvSpPr>
          <p:cNvPr id="311" name="TextBox 311"/>
          <p:cNvSpPr txBox="1"/>
          <p:nvPr/>
        </p:nvSpPr>
        <p:spPr>
          <a:xfrm>
            <a:off x="3372000" y="2500000"/>
            <a:ext cx="2400000" cy="11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0"/>
              </a:spcAft>
              <a:buNone/>
            </a:pPr>
            <a:r>
              <a:rPr lang="en-GB" sz="2800" b="1" dirty="0">
                <a:solidFill>
                  <a:schemeClr val="lt1"/>
                </a:solidFill>
              </a:rPr>
              <a:t>− 99</a:t>
            </a:r>
            <a:endParaRPr sz="2800">
              <a:solidFill>
                <a:schemeClr val="lt1"/>
              </a:solidFill>
            </a:endParaRPr>
          </a:p>
          <a:p>
            <a:pPr marL="0" lvl="0" indent="0" algn="ctr" rtl="0">
              <a:lnSpc>
                <a:spcPct val="115000"/>
              </a:lnSpc>
              <a:spcBef>
                <a:spcPts val="0"/>
              </a:spcBef>
              <a:spcAft>
                <a:spcPts val="0"/>
              </a:spcAft>
              <a:buNone/>
            </a:pPr>
            <a:r>
              <a:rPr lang="en-GB" sz="1100" dirty="0">
                <a:solidFill>
                  <a:schemeClr val="lt1"/>
                </a:solidFill>
              </a:rPr>
              <a:t>duplicates removed</a:t>
            </a:r>
            <a:endParaRPr sz="1100">
              <a:solidFill>
                <a:schemeClr val="lt1"/>
              </a:solidFill>
            </a:endParaRPr>
          </a:p>
        </p:txBody>
      </p:sp>
      <p:sp>
        <p:nvSpPr>
          <p:cNvPr id="312" name="TextBox 312"/>
          <p:cNvSpPr txBox="1"/>
          <p:nvPr/>
        </p:nvSpPr>
        <p:spPr>
          <a:xfrm>
            <a:off x="5772000" y="2500000"/>
            <a:ext cx="2400000" cy="11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0"/>
              </a:spcAft>
              <a:buNone/>
            </a:pPr>
            <a:r>
              <a:rPr lang="en-GB" sz="2800" b="1" dirty="0">
                <a:solidFill>
                  <a:schemeClr val="lt1"/>
                </a:solidFill>
              </a:rPr>
              <a:t>2,126</a:t>
            </a:r>
            <a:endParaRPr sz="2800">
              <a:solidFill>
                <a:schemeClr val="lt1"/>
              </a:solidFill>
            </a:endParaRPr>
          </a:p>
          <a:p>
            <a:pPr marL="0" lvl="0" indent="0" algn="ctr" rtl="0">
              <a:lnSpc>
                <a:spcPct val="115000"/>
              </a:lnSpc>
              <a:spcBef>
                <a:spcPts val="0"/>
              </a:spcBef>
              <a:spcAft>
                <a:spcPts val="0"/>
              </a:spcAft>
              <a:buNone/>
            </a:pPr>
            <a:r>
              <a:rPr lang="en-GB" sz="1100" dirty="0">
                <a:solidFill>
                  <a:schemeClr val="lt1"/>
                </a:solidFill>
              </a:rPr>
              <a:t>articles kept</a:t>
            </a:r>
            <a:endParaRPr sz="1100">
              <a:solidFill>
                <a:schemeClr val="lt1"/>
              </a:solidFill>
            </a:endParaRPr>
          </a:p>
        </p:txBody>
      </p:sp>
      <p:sp>
        <p:nvSpPr>
          <p:cNvPr id="320" name="TextBox 320"/>
          <p:cNvSpPr txBox="1"/>
          <p:nvPr/>
        </p:nvSpPr>
        <p:spPr>
          <a:xfrm>
            <a:off x="1072000" y="3900000"/>
            <a:ext cx="7000000" cy="9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500"/>
              </a:spcAft>
              <a:buNone/>
            </a:pPr>
            <a:r>
              <a:rPr lang="en-GB" sz="1300" dirty="0">
                <a:solidFill>
                  <a:schemeClr val="lt1"/>
                </a:solidFill>
              </a:rPr>
              <a:t>Lemmatise, not stem — real words downstream</a:t>
            </a:r>
            <a:endParaRPr sz="1300">
              <a:solidFill>
                <a:schemeClr val="lt1"/>
              </a:solidFill>
            </a:endParaRPr>
          </a:p>
          <a:p>
            <a:pPr marL="0" lvl="0" indent="0" algn="ctr" rtl="0">
              <a:lnSpc>
                <a:spcPct val="115000"/>
              </a:lnSpc>
              <a:spcBef>
                <a:spcPts val="0"/>
              </a:spcBef>
              <a:spcAft>
                <a:spcPts val="500"/>
              </a:spcAft>
              <a:buNone/>
            </a:pPr>
            <a:r>
              <a:rPr lang="en-GB" sz="1300" dirty="0">
                <a:solidFill>
                  <a:schemeClr val="lt1"/>
                </a:solidFill>
              </a:rPr>
              <a:t>Two text versions kept: cleaned for our models, raw for DistilBERT</a:t>
            </a:r>
            <a:endParaRPr sz="1300">
              <a:solidFill>
                <a:schemeClr val="l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6"/>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Feature Engineering</a:t>
            </a:r>
            <a:endParaRPr/>
          </a:p>
        </p:txBody>
      </p:sp>
      <p:sp>
        <p:nvSpPr>
          <p:cNvPr id="158" name="Google Shape;158;p16"/>
          <p:cNvSpPr txBox="1">
            <a:spLocks noGrp="1"/>
          </p:cNvSpPr>
          <p:nvPr>
            <p:ph type="body" idx="1"/>
          </p:nvPr>
        </p:nvSpPr>
        <p:spPr>
          <a:xfrm>
            <a:off x="311700" y="1307850"/>
            <a:ext cx="3395700" cy="3706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1200">
                <a:latin typeface="Arial"/>
                <a:ea typeface="Arial"/>
                <a:cs typeface="Arial"/>
                <a:sym typeface="Arial"/>
              </a:rPr>
              <a:t>Built three feature representations </a:t>
            </a:r>
            <a:endParaRPr sz="1200">
              <a:latin typeface="Arial"/>
              <a:ea typeface="Arial"/>
              <a:cs typeface="Arial"/>
              <a:sym typeface="Arial"/>
            </a:endParaRPr>
          </a:p>
          <a:p>
            <a:pPr marL="457200" lvl="0" indent="-304800" algn="l" rtl="0">
              <a:spcBef>
                <a:spcPts val="1200"/>
              </a:spcBef>
              <a:spcAft>
                <a:spcPts val="0"/>
              </a:spcAft>
              <a:buSzPts val="1200"/>
              <a:buFont typeface="Arial"/>
              <a:buChar char="●"/>
            </a:pPr>
            <a:r>
              <a:rPr lang="en-GB" sz="1200">
                <a:latin typeface="Arial"/>
                <a:ea typeface="Arial"/>
                <a:cs typeface="Arial"/>
                <a:sym typeface="Arial"/>
              </a:rPr>
              <a:t>A TF-IDF matrix </a:t>
            </a:r>
            <a:endParaRPr sz="1200">
              <a:latin typeface="Arial"/>
              <a:ea typeface="Arial"/>
              <a:cs typeface="Arial"/>
              <a:sym typeface="Arial"/>
            </a:endParaRPr>
          </a:p>
          <a:p>
            <a:pPr marL="457200" lvl="0" indent="-304800" algn="l" rtl="0">
              <a:spcBef>
                <a:spcPts val="0"/>
              </a:spcBef>
              <a:spcAft>
                <a:spcPts val="0"/>
              </a:spcAft>
              <a:buSzPts val="1200"/>
              <a:buFont typeface="Arial"/>
              <a:buChar char="●"/>
            </a:pPr>
            <a:r>
              <a:rPr lang="en-GB" sz="1200">
                <a:latin typeface="Arial"/>
                <a:ea typeface="Arial"/>
                <a:cs typeface="Arial"/>
                <a:sym typeface="Arial"/>
              </a:rPr>
              <a:t> Word2Vec model </a:t>
            </a:r>
            <a:endParaRPr sz="1200">
              <a:latin typeface="Arial"/>
              <a:ea typeface="Arial"/>
              <a:cs typeface="Arial"/>
              <a:sym typeface="Arial"/>
            </a:endParaRPr>
          </a:p>
          <a:p>
            <a:pPr marL="914400" lvl="1" indent="-304800" algn="l" rtl="0">
              <a:spcBef>
                <a:spcPts val="0"/>
              </a:spcBef>
              <a:spcAft>
                <a:spcPts val="0"/>
              </a:spcAft>
              <a:buSzPts val="1200"/>
              <a:buFont typeface="Arial"/>
              <a:buChar char="○"/>
            </a:pPr>
            <a:r>
              <a:rPr lang="en-GB" sz="1200">
                <a:latin typeface="Arial"/>
                <a:ea typeface="Arial"/>
                <a:cs typeface="Arial"/>
                <a:sym typeface="Arial"/>
              </a:rPr>
              <a:t>Trained from scratch on our own corpus </a:t>
            </a:r>
            <a:endParaRPr sz="1200">
              <a:latin typeface="Arial"/>
              <a:ea typeface="Arial"/>
              <a:cs typeface="Arial"/>
              <a:sym typeface="Arial"/>
            </a:endParaRPr>
          </a:p>
          <a:p>
            <a:pPr marL="457200" lvl="0" indent="-304800" algn="l" rtl="0">
              <a:spcBef>
                <a:spcPts val="0"/>
              </a:spcBef>
              <a:spcAft>
                <a:spcPts val="0"/>
              </a:spcAft>
              <a:buSzPts val="1200"/>
              <a:buFont typeface="Arial"/>
              <a:buChar char="●"/>
            </a:pPr>
            <a:r>
              <a:rPr lang="en-GB" sz="1200">
                <a:latin typeface="Arial"/>
                <a:ea typeface="Arial"/>
                <a:cs typeface="Arial"/>
                <a:sym typeface="Arial"/>
              </a:rPr>
              <a:t>Averaged Word2Vec vectors  </a:t>
            </a:r>
            <a:endParaRPr sz="1200">
              <a:latin typeface="Arial"/>
              <a:ea typeface="Arial"/>
              <a:cs typeface="Arial"/>
              <a:sym typeface="Arial"/>
            </a:endParaRPr>
          </a:p>
          <a:p>
            <a:pPr marL="0" lvl="0" indent="0" algn="l" rtl="0">
              <a:spcBef>
                <a:spcPts val="1200"/>
              </a:spcBef>
              <a:spcAft>
                <a:spcPts val="0"/>
              </a:spcAft>
              <a:buNone/>
            </a:pPr>
            <a:endParaRPr sz="1200">
              <a:latin typeface="Arial"/>
              <a:ea typeface="Arial"/>
              <a:cs typeface="Arial"/>
              <a:sym typeface="Arial"/>
            </a:endParaRPr>
          </a:p>
          <a:p>
            <a:pPr marL="0" lvl="0" indent="0" algn="l" rtl="0">
              <a:lnSpc>
                <a:spcPct val="100000"/>
              </a:lnSpc>
              <a:spcBef>
                <a:spcPts val="1200"/>
              </a:spcBef>
              <a:spcAft>
                <a:spcPts val="0"/>
              </a:spcAft>
              <a:buClr>
                <a:schemeClr val="dk1"/>
              </a:buClr>
              <a:buSzPts val="1100"/>
              <a:buFont typeface="Arial"/>
              <a:buNone/>
            </a:pPr>
            <a:r>
              <a:rPr lang="en-GB" sz="1200">
                <a:latin typeface="Arial"/>
                <a:ea typeface="Arial"/>
                <a:cs typeface="Arial"/>
                <a:sym typeface="Arial"/>
              </a:rPr>
              <a:t>As one deliverable, we built a function that takes any word and returns its most similar words by embedding distance. </a:t>
            </a:r>
            <a:endParaRPr sz="1200">
              <a:latin typeface="Arial"/>
              <a:ea typeface="Arial"/>
              <a:cs typeface="Arial"/>
              <a:sym typeface="Arial"/>
            </a:endParaRPr>
          </a:p>
          <a:p>
            <a:pPr marL="0" lvl="0" indent="0" algn="l" rtl="0">
              <a:spcBef>
                <a:spcPts val="0"/>
              </a:spcBef>
              <a:spcAft>
                <a:spcPts val="1200"/>
              </a:spcAft>
              <a:buNone/>
            </a:pPr>
            <a:endParaRPr sz="1100">
              <a:solidFill>
                <a:schemeClr val="dk1"/>
              </a:solidFill>
            </a:endParaRPr>
          </a:p>
        </p:txBody>
      </p:sp>
      <p:pic>
        <p:nvPicPr>
          <p:cNvPr id="159" name="Google Shape;159;p16"/>
          <p:cNvPicPr preferRelativeResize="0"/>
          <p:nvPr/>
        </p:nvPicPr>
        <p:blipFill>
          <a:blip r:embed="rId3">
            <a:alphaModFix/>
          </a:blip>
          <a:stretch>
            <a:fillRect/>
          </a:stretch>
        </p:blipFill>
        <p:spPr>
          <a:xfrm>
            <a:off x="4149925" y="1927600"/>
            <a:ext cx="4964101" cy="3294324"/>
          </a:xfrm>
          <a:prstGeom prst="rect">
            <a:avLst/>
          </a:prstGeom>
          <a:noFill/>
          <a:ln>
            <a:noFill/>
          </a:ln>
        </p:spPr>
      </p:pic>
      <p:sp>
        <p:nvSpPr>
          <p:cNvPr id="160" name="Google Shape;160;p16"/>
          <p:cNvSpPr txBox="1"/>
          <p:nvPr/>
        </p:nvSpPr>
        <p:spPr>
          <a:xfrm>
            <a:off x="4811050" y="980525"/>
            <a:ext cx="3832500" cy="774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solidFill>
                  <a:schemeClr val="lt1"/>
                </a:solidFill>
              </a:rPr>
              <a:t>To visualise the embedding space, we projected our 100-dimensional Word2Vec document vectors down to 2D using t-SNE, coloured by category </a:t>
            </a:r>
            <a:endParaRPr sz="1200">
              <a:solidFill>
                <a:schemeClr val="l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7"/>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Topic Modelling (Unsupervised)</a:t>
            </a:r>
            <a:endParaRPr/>
          </a:p>
        </p:txBody>
      </p:sp>
      <p:sp>
        <p:nvSpPr>
          <p:cNvPr id="166" name="Google Shape;166;p17"/>
          <p:cNvSpPr txBox="1">
            <a:spLocks noGrp="1"/>
          </p:cNvSpPr>
          <p:nvPr>
            <p:ph type="body" idx="1"/>
          </p:nvPr>
        </p:nvSpPr>
        <p:spPr>
          <a:xfrm>
            <a:off x="70300" y="1629200"/>
            <a:ext cx="3345600" cy="3456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1200">
                <a:latin typeface="Arial"/>
                <a:ea typeface="Arial"/>
                <a:cs typeface="Arial"/>
                <a:sym typeface="Arial"/>
              </a:rPr>
              <a:t>For unsupervised learning, we used Latent Dirichlet Allocation (LDA)</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We trained models for every K from 2 to 12 and scored each using coherence </a:t>
            </a:r>
            <a:endParaRPr sz="1200">
              <a:latin typeface="Arial"/>
              <a:ea typeface="Arial"/>
              <a:cs typeface="Arial"/>
              <a:sym typeface="Arial"/>
            </a:endParaRPr>
          </a:p>
          <a:p>
            <a:pPr marL="0" lvl="0" indent="0" algn="l" rtl="0">
              <a:spcBef>
                <a:spcPts val="1200"/>
              </a:spcBef>
              <a:spcAft>
                <a:spcPts val="1200"/>
              </a:spcAft>
              <a:buNone/>
            </a:pPr>
            <a:r>
              <a:rPr lang="en-GB" sz="1200">
                <a:latin typeface="Arial"/>
                <a:ea typeface="Arial"/>
                <a:cs typeface="Arial"/>
                <a:sym typeface="Arial"/>
              </a:rPr>
              <a:t>Found K equals 10 gave the best score. </a:t>
            </a:r>
            <a:endParaRPr sz="1200">
              <a:latin typeface="Arial"/>
              <a:ea typeface="Arial"/>
              <a:cs typeface="Arial"/>
              <a:sym typeface="Arial"/>
            </a:endParaRPr>
          </a:p>
        </p:txBody>
      </p:sp>
      <p:pic>
        <p:nvPicPr>
          <p:cNvPr id="167" name="Google Shape;167;p17"/>
          <p:cNvPicPr preferRelativeResize="0"/>
          <p:nvPr/>
        </p:nvPicPr>
        <p:blipFill>
          <a:blip r:embed="rId3">
            <a:alphaModFix/>
          </a:blip>
          <a:stretch>
            <a:fillRect/>
          </a:stretch>
        </p:blipFill>
        <p:spPr>
          <a:xfrm>
            <a:off x="3378575" y="2614699"/>
            <a:ext cx="5765425" cy="2528801"/>
          </a:xfrm>
          <a:prstGeom prst="rect">
            <a:avLst/>
          </a:prstGeom>
          <a:noFill/>
          <a:ln>
            <a:noFill/>
          </a:ln>
        </p:spPr>
      </p:pic>
      <p:sp>
        <p:nvSpPr>
          <p:cNvPr id="168" name="Google Shape;168;p17"/>
          <p:cNvSpPr txBox="1"/>
          <p:nvPr/>
        </p:nvSpPr>
        <p:spPr>
          <a:xfrm>
            <a:off x="3415900" y="1025250"/>
            <a:ext cx="5491200" cy="1546500"/>
          </a:xfrm>
          <a:prstGeom prst="rect">
            <a:avLst/>
          </a:prstGeom>
          <a:noFill/>
          <a:ln>
            <a:noFill/>
          </a:ln>
        </p:spPr>
        <p:txBody>
          <a:bodyPr spcFirstLastPara="1" wrap="square" lIns="91425" tIns="91425" rIns="91425" bIns="91425" anchor="t" anchorCtr="0">
            <a:noAutofit/>
          </a:bodyPr>
          <a:lstStyle/>
          <a:p>
            <a:pPr marL="457200" lvl="0" indent="-304800" algn="l" rtl="0">
              <a:spcBef>
                <a:spcPts val="0"/>
              </a:spcBef>
              <a:spcAft>
                <a:spcPts val="0"/>
              </a:spcAft>
              <a:buClr>
                <a:schemeClr val="lt1"/>
              </a:buClr>
              <a:buSzPts val="1200"/>
              <a:buChar char="●"/>
            </a:pPr>
            <a:r>
              <a:rPr lang="en-GB" sz="1200">
                <a:solidFill>
                  <a:schemeClr val="lt1"/>
                </a:solidFill>
              </a:rPr>
              <a:t>Double our number of known categories. </a:t>
            </a:r>
            <a:endParaRPr sz="1200">
              <a:solidFill>
                <a:schemeClr val="lt1"/>
              </a:solidFill>
            </a:endParaRPr>
          </a:p>
          <a:p>
            <a:pPr marL="457200" lvl="0" indent="-304800" algn="l" rtl="0">
              <a:spcBef>
                <a:spcPts val="0"/>
              </a:spcBef>
              <a:spcAft>
                <a:spcPts val="0"/>
              </a:spcAft>
              <a:buClr>
                <a:schemeClr val="lt1"/>
              </a:buClr>
              <a:buSzPts val="1200"/>
              <a:buChar char="●"/>
            </a:pPr>
            <a:r>
              <a:rPr lang="en-GB" sz="1200">
                <a:solidFill>
                  <a:schemeClr val="lt1"/>
                </a:solidFill>
              </a:rPr>
              <a:t>LDA split several of our categories into finer sub-themes. </a:t>
            </a:r>
            <a:endParaRPr sz="1200">
              <a:solidFill>
                <a:schemeClr val="lt1"/>
              </a:solidFill>
            </a:endParaRPr>
          </a:p>
          <a:p>
            <a:pPr marL="0" lvl="0" indent="0" algn="l" rtl="0">
              <a:spcBef>
                <a:spcPts val="0"/>
              </a:spcBef>
              <a:spcAft>
                <a:spcPts val="0"/>
              </a:spcAft>
              <a:buNone/>
            </a:pPr>
            <a:endParaRPr sz="1200">
              <a:solidFill>
                <a:schemeClr val="lt1"/>
              </a:solidFill>
            </a:endParaRPr>
          </a:p>
          <a:p>
            <a:pPr marL="0" lvl="0" indent="0" algn="l" rtl="0">
              <a:spcBef>
                <a:spcPts val="0"/>
              </a:spcBef>
              <a:spcAft>
                <a:spcPts val="0"/>
              </a:spcAft>
              <a:buNone/>
            </a:pPr>
            <a:r>
              <a:rPr lang="en-GB" sz="1200">
                <a:solidFill>
                  <a:schemeClr val="lt1"/>
                </a:solidFill>
              </a:rPr>
              <a:t>That's not a failure — it's the unsupervised method finding real structure inside our categories that the human labels don't capture. </a:t>
            </a:r>
            <a:endParaRPr sz="1200">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18"/>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Text Classification (Supervised)</a:t>
            </a:r>
            <a:endParaRPr/>
          </a:p>
        </p:txBody>
      </p:sp>
      <p:sp>
        <p:nvSpPr>
          <p:cNvPr id="174" name="Google Shape;174;p18"/>
          <p:cNvSpPr txBox="1">
            <a:spLocks noGrp="1"/>
          </p:cNvSpPr>
          <p:nvPr>
            <p:ph type="body" idx="1"/>
          </p:nvPr>
        </p:nvSpPr>
        <p:spPr>
          <a:xfrm>
            <a:off x="1297500" y="1046475"/>
            <a:ext cx="7614900" cy="2369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1200">
                <a:latin typeface="Arial"/>
                <a:ea typeface="Arial"/>
                <a:cs typeface="Arial"/>
                <a:sym typeface="Arial"/>
              </a:rPr>
              <a:t> We trained three classical models on TF-IDF features </a:t>
            </a:r>
            <a:endParaRPr sz="1200">
              <a:latin typeface="Arial"/>
              <a:ea typeface="Arial"/>
              <a:cs typeface="Arial"/>
              <a:sym typeface="Arial"/>
            </a:endParaRPr>
          </a:p>
          <a:p>
            <a:pPr marL="457200" lvl="0" indent="-304800" algn="l" rtl="0">
              <a:spcBef>
                <a:spcPts val="1200"/>
              </a:spcBef>
              <a:spcAft>
                <a:spcPts val="0"/>
              </a:spcAft>
              <a:buSzPts val="1200"/>
              <a:buFont typeface="Arial"/>
              <a:buChar char="●"/>
            </a:pPr>
            <a:r>
              <a:rPr lang="en-GB" sz="1200">
                <a:latin typeface="Arial"/>
                <a:ea typeface="Arial"/>
                <a:cs typeface="Arial"/>
                <a:sym typeface="Arial"/>
              </a:rPr>
              <a:t>Logistic Regression, </a:t>
            </a:r>
            <a:endParaRPr sz="1200">
              <a:latin typeface="Arial"/>
              <a:ea typeface="Arial"/>
              <a:cs typeface="Arial"/>
              <a:sym typeface="Arial"/>
            </a:endParaRPr>
          </a:p>
          <a:p>
            <a:pPr marL="457200" lvl="0" indent="-304800" algn="l" rtl="0">
              <a:spcBef>
                <a:spcPts val="0"/>
              </a:spcBef>
              <a:spcAft>
                <a:spcPts val="0"/>
              </a:spcAft>
              <a:buSzPts val="1200"/>
              <a:buFont typeface="Arial"/>
              <a:buChar char="●"/>
            </a:pPr>
            <a:r>
              <a:rPr lang="en-GB" sz="1200">
                <a:latin typeface="Arial"/>
                <a:ea typeface="Arial"/>
                <a:cs typeface="Arial"/>
                <a:sym typeface="Arial"/>
              </a:rPr>
              <a:t>Naive Bayes, </a:t>
            </a:r>
            <a:endParaRPr sz="1200">
              <a:latin typeface="Arial"/>
              <a:ea typeface="Arial"/>
              <a:cs typeface="Arial"/>
              <a:sym typeface="Arial"/>
            </a:endParaRPr>
          </a:p>
          <a:p>
            <a:pPr marL="457200" lvl="0" indent="-304800" algn="l" rtl="0">
              <a:spcBef>
                <a:spcPts val="0"/>
              </a:spcBef>
              <a:spcAft>
                <a:spcPts val="0"/>
              </a:spcAft>
              <a:buSzPts val="1200"/>
              <a:buFont typeface="Arial"/>
              <a:buChar char="●"/>
            </a:pPr>
            <a:r>
              <a:rPr lang="en-GB" sz="1200">
                <a:latin typeface="Arial"/>
                <a:ea typeface="Arial"/>
                <a:cs typeface="Arial"/>
                <a:sym typeface="Arial"/>
              </a:rPr>
              <a:t>linear Support Vector Machine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TF-IDF on the training data only, to avoid any information leaking from the test set.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All three performed extremely well — between 96.5% and 97% accuracy.</a:t>
            </a:r>
            <a:endParaRPr sz="1200">
              <a:latin typeface="Arial"/>
              <a:ea typeface="Arial"/>
              <a:cs typeface="Arial"/>
              <a:sym typeface="Arial"/>
            </a:endParaRPr>
          </a:p>
          <a:p>
            <a:pPr marL="0" lvl="0" indent="0" algn="l" rtl="0">
              <a:spcBef>
                <a:spcPts val="1200"/>
              </a:spcBef>
              <a:spcAft>
                <a:spcPts val="1200"/>
              </a:spcAft>
              <a:buNone/>
            </a:pPr>
            <a:r>
              <a:rPr lang="en-GB" sz="1200">
                <a:latin typeface="Arial"/>
                <a:ea typeface="Arial"/>
                <a:cs typeface="Arial"/>
                <a:sym typeface="Arial"/>
              </a:rPr>
              <a:t>Linear SVM was the best of the three, at 97.0% accuracy and 0.969 macro F1</a:t>
            </a:r>
            <a:r>
              <a:rPr lang="en-GB" sz="1100">
                <a:latin typeface="Arial"/>
                <a:ea typeface="Arial"/>
                <a:cs typeface="Arial"/>
                <a:sym typeface="Arial"/>
              </a:rPr>
              <a:t>.</a:t>
            </a:r>
            <a:endParaRPr sz="1100">
              <a:latin typeface="Arial"/>
              <a:ea typeface="Arial"/>
              <a:cs typeface="Arial"/>
              <a:sym typeface="Arial"/>
            </a:endParaRPr>
          </a:p>
        </p:txBody>
      </p:sp>
      <p:pic>
        <p:nvPicPr>
          <p:cNvPr id="175" name="Google Shape;175;p18"/>
          <p:cNvPicPr preferRelativeResize="0"/>
          <p:nvPr/>
        </p:nvPicPr>
        <p:blipFill>
          <a:blip r:embed="rId3">
            <a:alphaModFix/>
          </a:blip>
          <a:stretch>
            <a:fillRect/>
          </a:stretch>
        </p:blipFill>
        <p:spPr>
          <a:xfrm>
            <a:off x="1563260" y="3415875"/>
            <a:ext cx="5507664" cy="17276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9"/>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Explainability</a:t>
            </a:r>
            <a:endParaRPr/>
          </a:p>
        </p:txBody>
      </p:sp>
      <p:pic>
        <p:nvPicPr>
          <p:cNvPr id="181" name="Google Shape;181;p19"/>
          <p:cNvPicPr preferRelativeResize="0"/>
          <p:nvPr/>
        </p:nvPicPr>
        <p:blipFill>
          <a:blip r:embed="rId3">
            <a:alphaModFix/>
          </a:blip>
          <a:stretch>
            <a:fillRect/>
          </a:stretch>
        </p:blipFill>
        <p:spPr>
          <a:xfrm>
            <a:off x="4301175" y="1863900"/>
            <a:ext cx="4857524" cy="3279599"/>
          </a:xfrm>
          <a:prstGeom prst="rect">
            <a:avLst/>
          </a:prstGeom>
          <a:noFill/>
          <a:ln>
            <a:noFill/>
          </a:ln>
        </p:spPr>
      </p:pic>
      <p:sp>
        <p:nvSpPr>
          <p:cNvPr id="182" name="Google Shape;182;p19"/>
          <p:cNvSpPr txBox="1"/>
          <p:nvPr/>
        </p:nvSpPr>
        <p:spPr>
          <a:xfrm>
            <a:off x="267075" y="1891925"/>
            <a:ext cx="4034100" cy="3087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GB" sz="1200">
                <a:solidFill>
                  <a:schemeClr val="lt1"/>
                </a:solidFill>
              </a:rPr>
              <a:t>Local Interpretable Model-agnostic Explanations (LIME)</a:t>
            </a:r>
            <a:endParaRPr sz="1200">
              <a:solidFill>
                <a:schemeClr val="lt1"/>
              </a:solidFill>
            </a:endParaRPr>
          </a:p>
          <a:p>
            <a:pPr marL="914400" lvl="0" indent="-304800" algn="l" rtl="0">
              <a:lnSpc>
                <a:spcPct val="115000"/>
              </a:lnSpc>
              <a:spcBef>
                <a:spcPts val="1200"/>
              </a:spcBef>
              <a:spcAft>
                <a:spcPts val="0"/>
              </a:spcAft>
              <a:buClr>
                <a:schemeClr val="lt1"/>
              </a:buClr>
              <a:buSzPts val="1200"/>
              <a:buChar char="●"/>
            </a:pPr>
            <a:r>
              <a:rPr lang="en-GB" sz="1200">
                <a:solidFill>
                  <a:schemeClr val="lt1"/>
                </a:solidFill>
              </a:rPr>
              <a:t>Explains one prediction at a time by showing which words pushed the model toward its answer. </a:t>
            </a:r>
            <a:endParaRPr sz="1200">
              <a:solidFill>
                <a:schemeClr val="lt1"/>
              </a:solidFill>
            </a:endParaRPr>
          </a:p>
          <a:p>
            <a:pPr marL="0" lvl="0" indent="0" algn="l" rtl="0">
              <a:spcBef>
                <a:spcPts val="1200"/>
              </a:spcBef>
              <a:spcAft>
                <a:spcPts val="0"/>
              </a:spcAft>
              <a:buNone/>
            </a:pPr>
            <a:r>
              <a:rPr lang="en-GB" sz="1200">
                <a:solidFill>
                  <a:schemeClr val="lt1"/>
                </a:solidFill>
              </a:rPr>
              <a:t>LIME highlights the specific words that drove the sport prediction. </a:t>
            </a:r>
            <a:endParaRPr sz="1200">
              <a:solidFill>
                <a:schemeClr val="lt1"/>
              </a:solidFill>
            </a:endParaRPr>
          </a:p>
          <a:p>
            <a:pPr marL="0" lvl="0" indent="0" algn="l" rtl="0">
              <a:spcBef>
                <a:spcPts val="0"/>
              </a:spcBef>
              <a:spcAft>
                <a:spcPts val="0"/>
              </a:spcAft>
              <a:buNone/>
            </a:pPr>
            <a:endParaRPr sz="1200">
              <a:solidFill>
                <a:schemeClr val="lt1"/>
              </a:solidFill>
            </a:endParaRPr>
          </a:p>
          <a:p>
            <a:pPr marL="0" lvl="0" indent="0" algn="l" rtl="0">
              <a:spcBef>
                <a:spcPts val="0"/>
              </a:spcBef>
              <a:spcAft>
                <a:spcPts val="0"/>
              </a:spcAft>
              <a:buNone/>
            </a:pPr>
            <a:r>
              <a:rPr lang="en-GB" sz="1200">
                <a:solidFill>
                  <a:schemeClr val="lt1"/>
                </a:solidFill>
              </a:rPr>
              <a:t>We also looked at a misclassified example to understand where the model gets confused.</a:t>
            </a:r>
            <a:endParaRPr sz="1200">
              <a:solidFill>
                <a:schemeClr val="lt1"/>
              </a:solidFill>
            </a:endParaRPr>
          </a:p>
          <a:p>
            <a:pPr marL="0" lvl="0" indent="0" algn="l" rtl="0">
              <a:spcBef>
                <a:spcPts val="0"/>
              </a:spcBef>
              <a:spcAft>
                <a:spcPts val="0"/>
              </a:spcAft>
              <a:buNone/>
            </a:pPr>
            <a:endParaRPr sz="1200">
              <a:solidFill>
                <a:schemeClr val="lt1"/>
              </a:solidFill>
            </a:endParaRPr>
          </a:p>
          <a:p>
            <a:pPr marL="0" lvl="0" indent="0" algn="l" rtl="0">
              <a:spcBef>
                <a:spcPts val="0"/>
              </a:spcBef>
              <a:spcAft>
                <a:spcPts val="0"/>
              </a:spcAft>
              <a:buNone/>
            </a:pPr>
            <a:r>
              <a:rPr lang="en-GB" sz="1200">
                <a:solidFill>
                  <a:schemeClr val="lt1"/>
                </a:solidFill>
              </a:rPr>
              <a:t>Giving us both a local and a global view of what the model has learned. </a:t>
            </a:r>
            <a:endParaRPr sz="1200">
              <a:solidFill>
                <a:schemeClr val="lt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0"/>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Deep Learning</a:t>
            </a:r>
            <a:endParaRPr/>
          </a:p>
        </p:txBody>
      </p:sp>
      <p:sp>
        <p:nvSpPr>
          <p:cNvPr id="188" name="Google Shape;188;p20"/>
          <p:cNvSpPr txBox="1">
            <a:spLocks noGrp="1"/>
          </p:cNvSpPr>
          <p:nvPr>
            <p:ph type="body" idx="1"/>
          </p:nvPr>
        </p:nvSpPr>
        <p:spPr>
          <a:xfrm>
            <a:off x="92875" y="1776675"/>
            <a:ext cx="4096200" cy="19773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GB" sz="1200">
                <a:latin typeface="Arial"/>
                <a:ea typeface="Arial"/>
                <a:cs typeface="Arial"/>
                <a:sym typeface="Arial"/>
              </a:rPr>
              <a:t>Bidirectional LSTM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No pretrained embeddings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'From scratch' deep learning model compares to classical machine learning.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It reached 81.6% accuracy </a:t>
            </a:r>
            <a:endParaRPr sz="1200">
              <a:latin typeface="Arial"/>
              <a:ea typeface="Arial"/>
              <a:cs typeface="Arial"/>
              <a:sym typeface="Arial"/>
            </a:endParaRPr>
          </a:p>
          <a:p>
            <a:pPr marL="0" lvl="0" indent="0" algn="l" rtl="0">
              <a:spcBef>
                <a:spcPts val="1200"/>
              </a:spcBef>
              <a:spcAft>
                <a:spcPts val="1200"/>
              </a:spcAft>
              <a:buNone/>
            </a:pPr>
            <a:r>
              <a:rPr lang="en-GB" sz="1200">
                <a:latin typeface="Arial"/>
                <a:ea typeface="Arial"/>
                <a:cs typeface="Arial"/>
                <a:sym typeface="Arial"/>
              </a:rPr>
              <a:t>Beaten by Naive Bayes, the simplest model we tried. </a:t>
            </a:r>
            <a:endParaRPr sz="1200">
              <a:latin typeface="Arial"/>
              <a:ea typeface="Arial"/>
              <a:cs typeface="Arial"/>
              <a:sym typeface="Arial"/>
            </a:endParaRPr>
          </a:p>
        </p:txBody>
      </p:sp>
      <p:sp>
        <p:nvSpPr>
          <p:cNvPr id="189" name="Google Shape;189;p20"/>
          <p:cNvSpPr txBox="1"/>
          <p:nvPr/>
        </p:nvSpPr>
        <p:spPr>
          <a:xfrm>
            <a:off x="233450" y="1395675"/>
            <a:ext cx="1826700" cy="3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300">
                <a:solidFill>
                  <a:schemeClr val="lt1"/>
                </a:solidFill>
                <a:latin typeface="Lato"/>
                <a:ea typeface="Lato"/>
                <a:cs typeface="Lato"/>
                <a:sym typeface="Lato"/>
              </a:rPr>
              <a:t>Bidirectional LSTM</a:t>
            </a:r>
            <a:endParaRPr sz="1300">
              <a:solidFill>
                <a:schemeClr val="lt1"/>
              </a:solidFill>
              <a:latin typeface="Lato"/>
              <a:ea typeface="Lato"/>
              <a:cs typeface="Lato"/>
              <a:sym typeface="Lato"/>
            </a:endParaRPr>
          </a:p>
        </p:txBody>
      </p:sp>
      <p:sp>
        <p:nvSpPr>
          <p:cNvPr id="190" name="Google Shape;190;p20"/>
          <p:cNvSpPr txBox="1"/>
          <p:nvPr/>
        </p:nvSpPr>
        <p:spPr>
          <a:xfrm>
            <a:off x="5072700" y="1307850"/>
            <a:ext cx="2370000" cy="42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300">
                <a:solidFill>
                  <a:schemeClr val="lt1"/>
                </a:solidFill>
                <a:latin typeface="Lato"/>
                <a:ea typeface="Lato"/>
                <a:cs typeface="Lato"/>
                <a:sym typeface="Lato"/>
              </a:rPr>
              <a:t>DISTILBERT</a:t>
            </a:r>
            <a:endParaRPr sz="1300">
              <a:solidFill>
                <a:schemeClr val="lt1"/>
              </a:solidFill>
              <a:latin typeface="Lato"/>
              <a:ea typeface="Lato"/>
              <a:cs typeface="Lato"/>
              <a:sym typeface="Lato"/>
            </a:endParaRPr>
          </a:p>
        </p:txBody>
      </p:sp>
      <p:sp>
        <p:nvSpPr>
          <p:cNvPr id="191" name="Google Shape;191;p20"/>
          <p:cNvSpPr txBox="1"/>
          <p:nvPr/>
        </p:nvSpPr>
        <p:spPr>
          <a:xfrm>
            <a:off x="5023450" y="1367525"/>
            <a:ext cx="3480600" cy="136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200">
              <a:solidFill>
                <a:schemeClr val="lt1"/>
              </a:solidFill>
            </a:endParaRPr>
          </a:p>
          <a:p>
            <a:pPr marL="0" lvl="0" indent="0" algn="l" rtl="0">
              <a:spcBef>
                <a:spcPts val="0"/>
              </a:spcBef>
              <a:spcAft>
                <a:spcPts val="0"/>
              </a:spcAft>
              <a:buNone/>
            </a:pPr>
            <a:endParaRPr sz="1200">
              <a:solidFill>
                <a:schemeClr val="lt1"/>
              </a:solidFill>
            </a:endParaRPr>
          </a:p>
          <a:p>
            <a:pPr marL="0" lvl="0" indent="0" algn="l" rtl="0">
              <a:spcBef>
                <a:spcPts val="0"/>
              </a:spcBef>
              <a:spcAft>
                <a:spcPts val="0"/>
              </a:spcAft>
              <a:buNone/>
            </a:pPr>
            <a:r>
              <a:rPr lang="en-GB" sz="1200">
                <a:solidFill>
                  <a:schemeClr val="lt1"/>
                </a:solidFill>
              </a:rPr>
              <a:t>Then we fine-tuned DistilBERT </a:t>
            </a:r>
            <a:endParaRPr sz="1200">
              <a:solidFill>
                <a:schemeClr val="lt1"/>
              </a:solidFill>
            </a:endParaRPr>
          </a:p>
          <a:p>
            <a:pPr marL="0" lvl="0" indent="0" algn="l" rtl="0">
              <a:spcBef>
                <a:spcPts val="0"/>
              </a:spcBef>
              <a:spcAft>
                <a:spcPts val="0"/>
              </a:spcAft>
              <a:buNone/>
            </a:pPr>
            <a:r>
              <a:rPr lang="en-GB" sz="1200">
                <a:solidFill>
                  <a:schemeClr val="lt1"/>
                </a:solidFill>
              </a:rPr>
              <a:t>a compressed, pretrained transformer</a:t>
            </a:r>
            <a:endParaRPr sz="1200">
              <a:solidFill>
                <a:schemeClr val="lt1"/>
              </a:solidFill>
            </a:endParaRPr>
          </a:p>
          <a:p>
            <a:pPr marL="0" lvl="0" indent="0" algn="l" rtl="0">
              <a:spcBef>
                <a:spcPts val="0"/>
              </a:spcBef>
              <a:spcAft>
                <a:spcPts val="0"/>
              </a:spcAft>
              <a:buNone/>
            </a:pPr>
            <a:r>
              <a:rPr lang="en-GB" sz="1200">
                <a:solidFill>
                  <a:schemeClr val="lt1"/>
                </a:solidFill>
              </a:rPr>
              <a:t>This reached 97.2% accuracy and 0.971 macro F1  </a:t>
            </a:r>
            <a:endParaRPr sz="1200">
              <a:solidFill>
                <a:schemeClr val="lt1"/>
              </a:solidFill>
            </a:endParaRPr>
          </a:p>
        </p:txBody>
      </p:sp>
      <p:pic>
        <p:nvPicPr>
          <p:cNvPr id="192" name="Google Shape;192;p20"/>
          <p:cNvPicPr preferRelativeResize="0"/>
          <p:nvPr/>
        </p:nvPicPr>
        <p:blipFill>
          <a:blip r:embed="rId3">
            <a:alphaModFix/>
          </a:blip>
          <a:stretch>
            <a:fillRect/>
          </a:stretch>
        </p:blipFill>
        <p:spPr>
          <a:xfrm>
            <a:off x="3928675" y="2794000"/>
            <a:ext cx="5215326" cy="23495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Title 509"/>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Model Comparison — All Five Classifiers</a:t>
            </a:r>
            <a:endParaRPr/>
          </a:p>
        </p:txBody>
      </p:sp>
      <p:graphicFrame>
        <p:nvGraphicFramePr>
          <p:cNvPr id="510" name="Model comparison table"/>
          <p:cNvGraphicFramePr>
            <a:graphicFrameLocks noGrp="1"/>
          </p:cNvGraphicFramePr>
          <p:nvPr/>
        </p:nvGraphicFramePr>
        <p:xfrm>
          <a:off x="822000" y="1560000"/>
          <a:ext cx="7500000" cy="3040000"/>
        </p:xfrm>
        <a:graphic>
          <a:graphicData uri="http://schemas.openxmlformats.org/drawingml/2006/table">
            <a:tbl>
              <a:tblPr firstRow="1" bandRow="0"/>
              <a:tblGrid>
                <a:gridCol w="2800000"/>
                <a:gridCol w="1900000"/>
                <a:gridCol w="1400000"/>
                <a:gridCol w="1400000"/>
              </a:tblGrid>
              <a:tr h="460000">
                <a:tc>
                  <a:txBody>
                    <a:bodyPr/>
                    <a:lstStyle/>
                    <a:p>
                      <a:pPr marL="0" lvl="0" indent="0" algn="l" rtl="0">
                        <a:buNone/>
                      </a:pPr>
                      <a:r>
                        <a:rPr lang="en-GB" sz="1300" b="1" dirty="0">
                          <a:solidFill>
                            <a:schemeClr val="lt1"/>
                          </a:solidFill>
                        </a:rPr>
                        <a:t>Model</a:t>
                      </a:r>
                      <a:endParaRPr sz="1300" b="1">
                        <a:solidFill>
                          <a:schemeClr val="lt1"/>
                        </a:solidFill>
                      </a:endParaRPr>
                    </a:p>
                  </a:txBody>
                  <a:tcPr marL="91440" marR="91440" marT="45720" marB="45720" anchor="ctr">
                    <a:lnB w="9525" cap="flat" cmpd="sng">
                      <a:solidFill>
                        <a:schemeClr val="lt1">
                          <a:alpha val="35000"/>
                        </a:schemeClr>
                      </a:solidFill>
                      <a:prstDash val="solid"/>
                    </a:lnB>
                    <a:solidFill>
                      <a:schemeClr val="lt2">
                        <a:alpha val="25000"/>
                      </a:schemeClr>
                    </a:solidFill>
                  </a:tcPr>
                </a:tc>
                <a:tc>
                  <a:txBody>
                    <a:bodyPr/>
                    <a:lstStyle/>
                    <a:p>
                      <a:pPr marL="0" lvl="0" indent="0" algn="l" rtl="0">
                        <a:buNone/>
                      </a:pPr>
                      <a:r>
                        <a:rPr lang="en-GB" sz="1300" b="1" dirty="0">
                          <a:solidFill>
                            <a:schemeClr val="lt1"/>
                          </a:solidFill>
                        </a:rPr>
                        <a:t>Type</a:t>
                      </a:r>
                      <a:endParaRPr sz="1300" b="1">
                        <a:solidFill>
                          <a:schemeClr val="lt1"/>
                        </a:solidFill>
                      </a:endParaRPr>
                    </a:p>
                  </a:txBody>
                  <a:tcPr marL="91440" marR="91440" marT="45720" marB="45720" anchor="ctr">
                    <a:lnB w="9525" cap="flat" cmpd="sng">
                      <a:solidFill>
                        <a:schemeClr val="lt1">
                          <a:alpha val="35000"/>
                        </a:schemeClr>
                      </a:solidFill>
                      <a:prstDash val="solid"/>
                    </a:lnB>
                    <a:solidFill>
                      <a:schemeClr val="lt2">
                        <a:alpha val="25000"/>
                      </a:schemeClr>
                    </a:solidFill>
                  </a:tcPr>
                </a:tc>
                <a:tc>
                  <a:txBody>
                    <a:bodyPr/>
                    <a:lstStyle/>
                    <a:p>
                      <a:pPr marL="0" lvl="0" indent="0" algn="r" rtl="0">
                        <a:buNone/>
                      </a:pPr>
                      <a:r>
                        <a:rPr lang="en-GB" sz="1300" b="1" dirty="0">
                          <a:solidFill>
                            <a:schemeClr val="lt1"/>
                          </a:solidFill>
                        </a:rPr>
                        <a:t>Accuracy</a:t>
                      </a:r>
                      <a:endParaRPr sz="1300" b="1">
                        <a:solidFill>
                          <a:schemeClr val="lt1"/>
                        </a:solidFill>
                      </a:endParaRPr>
                    </a:p>
                  </a:txBody>
                  <a:tcPr marL="91440" marR="91440" marT="45720" marB="45720" anchor="ctr">
                    <a:lnB w="9525" cap="flat" cmpd="sng">
                      <a:solidFill>
                        <a:schemeClr val="lt1">
                          <a:alpha val="35000"/>
                        </a:schemeClr>
                      </a:solidFill>
                      <a:prstDash val="solid"/>
                    </a:lnB>
                    <a:solidFill>
                      <a:schemeClr val="lt2">
                        <a:alpha val="25000"/>
                      </a:schemeClr>
                    </a:solidFill>
                  </a:tcPr>
                </a:tc>
                <a:tc>
                  <a:txBody>
                    <a:bodyPr/>
                    <a:lstStyle/>
                    <a:p>
                      <a:pPr marL="0" lvl="0" indent="0" algn="r" rtl="0">
                        <a:buNone/>
                      </a:pPr>
                      <a:r>
                        <a:rPr lang="en-GB" sz="1300" b="1" dirty="0">
                          <a:solidFill>
                            <a:schemeClr val="lt1"/>
                          </a:solidFill>
                        </a:rPr>
                        <a:t>Macro F1</a:t>
                      </a:r>
                      <a:endParaRPr sz="1300" b="1">
                        <a:solidFill>
                          <a:schemeClr val="lt1"/>
                        </a:solidFill>
                      </a:endParaRPr>
                    </a:p>
                  </a:txBody>
                  <a:tcPr marL="91440" marR="91440" marT="45720" marB="45720" anchor="ctr">
                    <a:lnB w="9525" cap="flat" cmpd="sng">
                      <a:solidFill>
                        <a:schemeClr val="lt1">
                          <a:alpha val="35000"/>
                        </a:schemeClr>
                      </a:solidFill>
                      <a:prstDash val="solid"/>
                    </a:lnB>
                    <a:solidFill>
                      <a:schemeClr val="lt2">
                        <a:alpha val="25000"/>
                      </a:schemeClr>
                    </a:solidFill>
                  </a:tcPr>
                </a:tc>
              </a:tr>
              <a:tr h="430000">
                <a:tc>
                  <a:txBody>
                    <a:bodyPr/>
                    <a:lstStyle/>
                    <a:p>
                      <a:pPr marL="0" lvl="0" indent="0" algn="l" rtl="0">
                        <a:buNone/>
                      </a:pPr>
                      <a:r>
                        <a:rPr lang="en-GB" sz="1300" b="1" dirty="0">
                          <a:solidFill>
                            <a:schemeClr val="lt1"/>
                          </a:solidFill>
                        </a:rPr>
                        <a:t>DistilBERT (fine-tuned)</a:t>
                      </a:r>
                      <a:endParaRPr sz="1300" b="1">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l" rtl="0">
                        <a:buNone/>
                      </a:pPr>
                      <a:r>
                        <a:rPr lang="en-GB" sz="1300" dirty="0">
                          <a:solidFill>
                            <a:schemeClr val="lt1"/>
                          </a:solidFill>
                        </a:rPr>
                        <a:t>Deep Learning</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97.21%</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0.971</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r>
              <a:tr h="430000">
                <a:tc>
                  <a:txBody>
                    <a:bodyPr/>
                    <a:lstStyle/>
                    <a:p>
                      <a:pPr marL="0" lvl="0" indent="0" algn="l" rtl="0">
                        <a:buNone/>
                      </a:pPr>
                      <a:r>
                        <a:rPr lang="en-GB" sz="1300" dirty="0">
                          <a:solidFill>
                            <a:schemeClr val="lt1"/>
                          </a:solidFill>
                        </a:rPr>
                        <a:t>Linear SVM</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l" rtl="0">
                        <a:buNone/>
                      </a:pPr>
                      <a:r>
                        <a:rPr lang="en-GB" sz="1300" dirty="0">
                          <a:solidFill>
                            <a:schemeClr val="lt1"/>
                          </a:solidFill>
                        </a:rPr>
                        <a:t>Traditional ML</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97.00%</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0.969</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r>
              <a:tr h="430000">
                <a:tc>
                  <a:txBody>
                    <a:bodyPr/>
                    <a:lstStyle/>
                    <a:p>
                      <a:pPr marL="0" lvl="0" indent="0" algn="l" rtl="0">
                        <a:buNone/>
                      </a:pPr>
                      <a:r>
                        <a:rPr lang="en-GB" sz="1300" dirty="0">
                          <a:solidFill>
                            <a:schemeClr val="lt1"/>
                          </a:solidFill>
                        </a:rPr>
                        <a:t>Logistic Regression</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l" rtl="0">
                        <a:buNone/>
                      </a:pPr>
                      <a:r>
                        <a:rPr lang="en-GB" sz="1300" dirty="0">
                          <a:solidFill>
                            <a:schemeClr val="lt1"/>
                          </a:solidFill>
                        </a:rPr>
                        <a:t>Traditional ML</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96.78%</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0.967</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r>
              <a:tr h="430000">
                <a:tc>
                  <a:txBody>
                    <a:bodyPr/>
                    <a:lstStyle/>
                    <a:p>
                      <a:pPr marL="0" lvl="0" indent="0" algn="l" rtl="0">
                        <a:buNone/>
                      </a:pPr>
                      <a:r>
                        <a:rPr lang="en-GB" sz="1300" dirty="0">
                          <a:solidFill>
                            <a:schemeClr val="lt1"/>
                          </a:solidFill>
                        </a:rPr>
                        <a:t>Naive Bayes</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l" rtl="0">
                        <a:buNone/>
                      </a:pPr>
                      <a:r>
                        <a:rPr lang="en-GB" sz="1300" dirty="0">
                          <a:solidFill>
                            <a:schemeClr val="lt1"/>
                          </a:solidFill>
                        </a:rPr>
                        <a:t>Traditional ML</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96.46%</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0.963</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r>
              <a:tr h="430000">
                <a:tc>
                  <a:txBody>
                    <a:bodyPr/>
                    <a:lstStyle/>
                    <a:p>
                      <a:pPr marL="0" lvl="0" indent="0" algn="l" rtl="0">
                        <a:buNone/>
                      </a:pPr>
                      <a:r>
                        <a:rPr lang="en-GB" sz="1300" dirty="0">
                          <a:solidFill>
                            <a:schemeClr val="lt1"/>
                          </a:solidFill>
                        </a:rPr>
                        <a:t>BiLSTM (from scratch)</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l" rtl="0">
                        <a:buNone/>
                      </a:pPr>
                      <a:r>
                        <a:rPr lang="en-GB" sz="1300" dirty="0">
                          <a:solidFill>
                            <a:schemeClr val="lt1"/>
                          </a:solidFill>
                        </a:rPr>
                        <a:t>Deep Learning</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81.55%</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c>
                  <a:txBody>
                    <a:bodyPr/>
                    <a:lstStyle/>
                    <a:p>
                      <a:pPr marL="0" lvl="0" indent="0" algn="r" rtl="0">
                        <a:buNone/>
                      </a:pPr>
                      <a:r>
                        <a:rPr lang="en-GB" sz="1300" dirty="0">
                          <a:solidFill>
                            <a:schemeClr val="lt1"/>
                          </a:solidFill>
                        </a:rPr>
                        <a:t>0.810</a:t>
                      </a:r>
                      <a:endParaRPr sz="1300">
                        <a:solidFill>
                          <a:schemeClr val="lt1"/>
                        </a:solidFill>
                      </a:endParaRPr>
                    </a:p>
                  </a:txBody>
                  <a:tcPr marL="91440" marR="91440" marT="45720" marB="45720" anchor="ctr">
                    <a:lnB w="9525" cap="flat" cmpd="sng">
                      <a:solidFill>
                        <a:schemeClr val="lt1">
                          <a:alpha val="35000"/>
                        </a:schemeClr>
                      </a:solidFill>
                      <a:prstDash val="solid"/>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p:cNvGrpSpPr/>
        <p:nvPr/>
      </p:nvGrpSpPr>
      <p:grpSpPr>
        <a:xfrm>
          <a:off x="0" y="0"/>
          <a:ext cx="0" cy="0"/>
          <a:chOff x="0" y="0"/>
          <a:chExt cx="0" cy="0"/>
        </a:xfrm>
      </p:grpSpPr>
      <p:sp>
        <p:nvSpPr>
          <p:cNvPr id="399" name="Title"/>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Deep Learning Continued</a:t>
            </a:r>
            <a:endParaRPr/>
          </a:p>
        </p:txBody>
      </p:sp>
      <p:sp>
        <p:nvSpPr>
          <p:cNvPr id="400" name="TextBox 400"/>
          <p:cNvSpPr txBox="1"/>
          <p:nvPr/>
        </p:nvSpPr>
        <p:spPr>
          <a:xfrm>
            <a:off x="572000" y="1650000"/>
            <a:ext cx="8000000" cy="9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0"/>
              </a:spcAft>
              <a:buNone/>
            </a:pPr>
            <a:r>
              <a:rPr lang="en-GB" sz="2400" b="1" dirty="0">
                <a:solidFill>
                  <a:schemeClr val="lt1"/>
                </a:solidFill>
              </a:rPr>
              <a:t>97.2% vs 97.0% — a difference of two articles out of 932</a:t>
            </a:r>
            <a:endParaRPr sz="2400">
              <a:solidFill>
                <a:schemeClr val="lt1"/>
              </a:solidFill>
            </a:endParaRPr>
          </a:p>
        </p:txBody>
      </p:sp>
      <p:sp>
        <p:nvSpPr>
          <p:cNvPr id="401" name="TextBox 401"/>
          <p:cNvSpPr txBox="1"/>
          <p:nvPr/>
        </p:nvSpPr>
        <p:spPr>
          <a:xfrm>
            <a:off x="1072000" y="2560000"/>
            <a:ext cx="7000000" cy="5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0"/>
              </a:spcAft>
              <a:buNone/>
            </a:pPr>
            <a:r>
              <a:rPr lang="en-GB" sz="1400" i="1" dirty="0">
                <a:solidFill>
                  <a:schemeClr val="lt1"/>
                </a:solidFill>
              </a:rPr>
              <a:t>The honest reading: a 67M-parameter transformer and a linear model over word counts are tied.</a:t>
            </a:r>
            <a:endParaRPr sz="1400">
              <a:solidFill>
                <a:schemeClr val="lt1"/>
              </a:solidFill>
            </a:endParaRPr>
          </a:p>
        </p:txBody>
      </p:sp>
      <p:sp>
        <p:nvSpPr>
          <p:cNvPr id="402" name="TextBox 402"/>
          <p:cNvSpPr txBox="1"/>
          <p:nvPr/>
        </p:nvSpPr>
        <p:spPr>
          <a:xfrm>
            <a:off x="152000" y="3400000"/>
            <a:ext cx="2800000" cy="1250000"/>
          </a:xfrm>
          <a:prstGeom prst="roundRect">
            <a:avLst>
              <a:gd name="adj" fmla="val 8000"/>
            </a:avLst>
          </a:prstGeom>
          <a:solidFill>
            <a:schemeClr val="lt2">
              <a:alpha val="25000"/>
            </a:schemeClr>
          </a:solid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300" b="1" dirty="0">
                <a:solidFill>
                  <a:schemeClr val="lt1"/>
                </a:solidFill>
              </a:rPr>
              <a:t>Pre-training does the work</a:t>
            </a:r>
            <a:endParaRPr sz="1300">
              <a:solidFill>
                <a:schemeClr val="lt1"/>
              </a:solidFill>
            </a:endParaRPr>
          </a:p>
          <a:p>
            <a:pPr marL="0" lvl="0" indent="0" algn="ctr" rtl="0">
              <a:lnSpc>
                <a:spcPct val="115000"/>
              </a:lnSpc>
              <a:spcBef>
                <a:spcPts val="0"/>
              </a:spcBef>
              <a:spcAft>
                <a:spcPts val="400"/>
              </a:spcAft>
              <a:buNone/>
            </a:pPr>
            <a:r>
              <a:rPr lang="en-GB" sz="1150" dirty="0">
                <a:solidFill>
                  <a:schemeClr val="lt1"/>
                </a:solidFill>
              </a:rPr>
              <a:t>DistilBERT adapts representations learned on billions of words</a:t>
            </a:r>
            <a:endParaRPr sz="1150">
              <a:solidFill>
                <a:schemeClr val="lt1"/>
              </a:solidFill>
            </a:endParaRPr>
          </a:p>
        </p:txBody>
      </p:sp>
      <p:sp>
        <p:nvSpPr>
          <p:cNvPr id="403" name="TextBox 403"/>
          <p:cNvSpPr txBox="1"/>
          <p:nvPr/>
        </p:nvSpPr>
        <p:spPr>
          <a:xfrm>
            <a:off x="3172000" y="3400000"/>
            <a:ext cx="2800000" cy="1250000"/>
          </a:xfrm>
          <a:prstGeom prst="roundRect">
            <a:avLst>
              <a:gd name="adj" fmla="val 8000"/>
            </a:avLst>
          </a:prstGeom>
          <a:solidFill>
            <a:schemeClr val="lt2">
              <a:alpha val="25000"/>
            </a:schemeClr>
          </a:solid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300" b="1" dirty="0">
                <a:solidFill>
                  <a:schemeClr val="lt1"/>
                </a:solidFill>
              </a:rPr>
              <a:t>From scratch is not enough</a:t>
            </a:r>
            <a:endParaRPr sz="1300">
              <a:solidFill>
                <a:schemeClr val="lt1"/>
              </a:solidFill>
            </a:endParaRPr>
          </a:p>
          <a:p>
            <a:pPr marL="0" lvl="0" indent="0" algn="ctr" rtl="0">
              <a:lnSpc>
                <a:spcPct val="115000"/>
              </a:lnSpc>
              <a:spcBef>
                <a:spcPts val="0"/>
              </a:spcBef>
              <a:spcAft>
                <a:spcPts val="400"/>
              </a:spcAft>
              <a:buNone/>
            </a:pPr>
            <a:r>
              <a:rPr lang="en-GB" sz="1150" dirty="0">
                <a:solidFill>
                  <a:schemeClr val="lt1"/>
                </a:solidFill>
              </a:rPr>
              <a:t>the LSTM reaches 81.6% — beaten by Naive Bayes</a:t>
            </a:r>
            <a:endParaRPr sz="1150">
              <a:solidFill>
                <a:schemeClr val="lt1"/>
              </a:solidFill>
            </a:endParaRPr>
          </a:p>
        </p:txBody>
      </p:sp>
      <p:sp>
        <p:nvSpPr>
          <p:cNvPr id="404" name="TextBox 404"/>
          <p:cNvSpPr txBox="1"/>
          <p:nvPr/>
        </p:nvSpPr>
        <p:spPr>
          <a:xfrm>
            <a:off x="6192000" y="3400000"/>
            <a:ext cx="2800000" cy="1250000"/>
          </a:xfrm>
          <a:prstGeom prst="roundRect">
            <a:avLst>
              <a:gd name="adj" fmla="val 8000"/>
            </a:avLst>
          </a:prstGeom>
          <a:solidFill>
            <a:schemeClr val="lt2">
              <a:alpha val="25000"/>
            </a:schemeClr>
          </a:solid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300" b="1" dirty="0">
                <a:solidFill>
                  <a:schemeClr val="lt1"/>
                </a:solidFill>
              </a:rPr>
              <a:t>No headroom left</a:t>
            </a:r>
            <a:endParaRPr sz="1300">
              <a:solidFill>
                <a:schemeClr val="lt1"/>
              </a:solidFill>
            </a:endParaRPr>
          </a:p>
          <a:p>
            <a:pPr marL="0" lvl="0" indent="0" algn="ctr" rtl="0">
              <a:lnSpc>
                <a:spcPct val="115000"/>
              </a:lnSpc>
              <a:spcBef>
                <a:spcPts val="0"/>
              </a:spcBef>
              <a:spcAft>
                <a:spcPts val="400"/>
              </a:spcAft>
              <a:buNone/>
            </a:pPr>
            <a:r>
              <a:rPr lang="en-GB" sz="1150" dirty="0">
                <a:solidFill>
                  <a:schemeClr val="lt1"/>
                </a:solidFill>
              </a:rPr>
              <a:t>'shares' or 'scored' alone settles the category</a:t>
            </a:r>
            <a:endParaRPr sz="1150">
              <a:solidFill>
                <a:schemeClr val="lt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22"/>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RAG</a:t>
            </a:r>
            <a:endParaRPr/>
          </a:p>
        </p:txBody>
      </p:sp>
      <p:sp>
        <p:nvSpPr>
          <p:cNvPr id="208" name="Google Shape;208;p22"/>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1200">
                <a:latin typeface="Arial"/>
                <a:ea typeface="Arial"/>
                <a:cs typeface="Arial"/>
                <a:sym typeface="Arial"/>
              </a:rPr>
              <a:t>Retrieval-Augmented Generation system a chatbot that answers questions grounded in our article corpus, rather than making things up.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Two parts: </a:t>
            </a:r>
            <a:endParaRPr sz="1200">
              <a:latin typeface="Arial"/>
              <a:ea typeface="Arial"/>
              <a:cs typeface="Arial"/>
              <a:sym typeface="Arial"/>
            </a:endParaRPr>
          </a:p>
          <a:p>
            <a:pPr marL="457200" lvl="0" indent="-304800" algn="l" rtl="0">
              <a:spcBef>
                <a:spcPts val="1200"/>
              </a:spcBef>
              <a:spcAft>
                <a:spcPts val="0"/>
              </a:spcAft>
              <a:buSzPts val="1200"/>
              <a:buFont typeface="Arial"/>
              <a:buChar char="●"/>
            </a:pPr>
            <a:r>
              <a:rPr lang="en-GB" sz="1200">
                <a:latin typeface="Arial"/>
                <a:ea typeface="Arial"/>
                <a:cs typeface="Arial"/>
                <a:sym typeface="Arial"/>
              </a:rPr>
              <a:t>A Retriever </a:t>
            </a:r>
            <a:endParaRPr sz="1200">
              <a:latin typeface="Arial"/>
              <a:ea typeface="Arial"/>
              <a:cs typeface="Arial"/>
              <a:sym typeface="Arial"/>
            </a:endParaRPr>
          </a:p>
          <a:p>
            <a:pPr marL="457200" lvl="0" indent="-304800" algn="l" rtl="0">
              <a:spcBef>
                <a:spcPts val="0"/>
              </a:spcBef>
              <a:spcAft>
                <a:spcPts val="0"/>
              </a:spcAft>
              <a:buSzPts val="1200"/>
              <a:buFont typeface="Arial"/>
              <a:buChar char="●"/>
            </a:pPr>
            <a:r>
              <a:rPr lang="en-GB" sz="1200">
                <a:latin typeface="Arial"/>
                <a:ea typeface="Arial"/>
                <a:cs typeface="Arial"/>
                <a:sym typeface="Arial"/>
              </a:rPr>
              <a:t>A Generator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We evaluated it on ten manually written questions about topics from the corpus. </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Scoring the generated answers against expected answers with ROUGE-L </a:t>
            </a:r>
            <a:endParaRPr sz="1200">
              <a:latin typeface="Arial"/>
              <a:ea typeface="Arial"/>
              <a:cs typeface="Arial"/>
              <a:sym typeface="Arial"/>
            </a:endParaRPr>
          </a:p>
          <a:p>
            <a:pPr marL="0" lvl="0" indent="0" algn="l" rtl="0">
              <a:spcBef>
                <a:spcPts val="1200"/>
              </a:spcBef>
              <a:spcAft>
                <a:spcPts val="1200"/>
              </a:spcAft>
              <a:buNone/>
            </a:pPr>
            <a:r>
              <a:rPr lang="en-GB" sz="1200">
                <a:latin typeface="Arial"/>
                <a:ea typeface="Arial"/>
                <a:cs typeface="Arial"/>
                <a:sym typeface="Arial"/>
              </a:rPr>
              <a:t>Our mean was 0.155, with a best of 0.31 and two questions scoring zero.</a:t>
            </a:r>
            <a:r>
              <a:rPr lang="en-GB" sz="1100">
                <a:solidFill>
                  <a:srgbClr val="000000"/>
                </a:solidFill>
                <a:latin typeface="Arial"/>
                <a:ea typeface="Arial"/>
                <a:cs typeface="Arial"/>
                <a:sym typeface="Arial"/>
              </a:rPr>
              <a:t> </a:t>
            </a:r>
            <a:endParaRPr sz="1100">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500" name="Title 500"/>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RAG — Evaluation Results</a:t>
            </a:r>
            <a:endParaRPr/>
          </a:p>
        </p:txBody>
      </p:sp>
      <p:sp>
        <p:nvSpPr>
          <p:cNvPr id="501" name="TextBox 501"/>
          <p:cNvSpPr txBox="1"/>
          <p:nvPr/>
        </p:nvSpPr>
        <p:spPr>
          <a:xfrm>
            <a:off x="1297500" y="1280000"/>
            <a:ext cx="7038900" cy="9500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400"/>
              </a:spcAft>
              <a:buNone/>
            </a:pPr>
            <a:r>
              <a:rPr lang="en-GB" sz="1300" dirty="0">
                <a:solidFill>
                  <a:schemeClr val="lt1"/>
                </a:solidFill>
              </a:rPr>
              <a:t>Mean ROUGE-L 0.155 · best 0.31 · two questions scored 0.0000</a:t>
            </a:r>
            <a:endParaRPr sz="1300" dirty="0">
              <a:solidFill>
                <a:schemeClr val="lt1"/>
              </a:solidFill>
            </a:endParaRPr>
          </a:p>
          <a:p>
            <a:pPr marL="0" lvl="0" indent="0" algn="l" rtl="0">
              <a:lnSpc>
                <a:spcPct val="115000"/>
              </a:lnSpc>
              <a:spcBef>
                <a:spcPts val="0"/>
              </a:spcBef>
              <a:spcAft>
                <a:spcPts val="400"/>
              </a:spcAft>
              <a:buNone/>
            </a:pPr>
            <a:r>
              <a:rPr lang="en-GB" sz="1300" dirty="0">
                <a:solidFill>
                  <a:schemeClr val="lt1"/>
                </a:solidFill>
              </a:rPr>
              <a:t>'What sport does Tiger Woods play?' → 'golf' — correct, scored 0.0000</a:t>
            </a:r>
            <a:endParaRPr sz="1300" dirty="0">
              <a:solidFill>
                <a:schemeClr val="lt1"/>
              </a:solidFill>
            </a:endParaRPr>
          </a:p>
          <a:p>
            <a:pPr marL="0" lvl="0" indent="0" algn="l" rtl="0">
              <a:lnSpc>
                <a:spcPct val="115000"/>
              </a:lnSpc>
              <a:spcBef>
                <a:spcPts val="0"/>
              </a:spcBef>
              <a:spcAft>
                <a:spcPts val="400"/>
              </a:spcAft>
              <a:buNone/>
            </a:pPr>
            <a:r>
              <a:rPr lang="en-GB" sz="1300" dirty="0">
                <a:solidFill>
                  <a:schemeClr val="lt1"/>
                </a:solidFill>
              </a:rPr>
              <a:t>Six of ten answers correct; the highest score any of them earned was 0.31</a:t>
            </a:r>
            <a:endParaRPr sz="1300" dirty="0">
              <a:solidFill>
                <a:schemeClr val="lt1"/>
              </a:solidFill>
            </a:endParaRPr>
          </a:p>
        </p:txBody>
      </p:sp>
      <p:pic>
        <p:nvPicPr>
          <p:cNvPr id="213" name="Google Shape;213;p23"/>
          <p:cNvPicPr preferRelativeResize="0"/>
          <p:nvPr/>
        </p:nvPicPr>
        <p:blipFill>
          <a:blip r:embed="rId3">
            <a:alphaModFix/>
          </a:blip>
          <a:stretch>
            <a:fillRect/>
          </a:stretch>
        </p:blipFill>
        <p:spPr>
          <a:xfrm>
            <a:off x="571200" y="2274000"/>
            <a:ext cx="8001599" cy="28629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p:cNvGrpSpPr/>
        <p:nvPr/>
      </p:nvGrpSpPr>
      <p:grpSpPr>
        <a:xfrm>
          <a:off x="0" y="0"/>
          <a:ext cx="0" cy="0"/>
          <a:chOff x="0" y="0"/>
          <a:chExt cx="0" cy="0"/>
        </a:xfrm>
      </p:grpSpPr>
      <p:sp>
        <p:nvSpPr>
          <p:cNvPr id="419" name="Title"/>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RAG Continued</a:t>
            </a:r>
            <a:endParaRPr/>
          </a:p>
        </p:txBody>
      </p:sp>
      <p:sp>
        <p:nvSpPr>
          <p:cNvPr id="420" name="TextBox 420"/>
          <p:cNvSpPr txBox="1"/>
          <p:nvPr/>
        </p:nvSpPr>
        <p:spPr>
          <a:xfrm>
            <a:off x="572000" y="1400000"/>
            <a:ext cx="8000000" cy="10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200"/>
              </a:spcAft>
              <a:buNone/>
            </a:pPr>
            <a:r>
              <a:rPr lang="en-GB" sz="1700" b="1" dirty="0">
                <a:solidFill>
                  <a:schemeClr val="lt1"/>
                </a:solidFill>
              </a:rPr>
              <a:t>One zero is the metric failing — the other is the system failing.</a:t>
            </a:r>
            <a:endParaRPr sz="1700">
              <a:solidFill>
                <a:schemeClr val="lt1"/>
              </a:solidFill>
            </a:endParaRPr>
          </a:p>
          <a:p>
            <a:pPr marL="0" lvl="0" indent="0" algn="ctr" rtl="0">
              <a:lnSpc>
                <a:spcPct val="115000"/>
              </a:lnSpc>
              <a:spcBef>
                <a:spcPts val="0"/>
              </a:spcBef>
              <a:spcAft>
                <a:spcPts val="200"/>
              </a:spcAft>
              <a:buNone/>
            </a:pPr>
            <a:r>
              <a:rPr lang="en-GB" sz="1700" b="1" dirty="0">
                <a:solidFill>
                  <a:schemeClr val="lt1"/>
                </a:solidFill>
              </a:rPr>
              <a:t>ROUGE-L gives them the same score: 0.0000</a:t>
            </a:r>
            <a:endParaRPr sz="1700">
              <a:solidFill>
                <a:schemeClr val="lt1"/>
              </a:solidFill>
            </a:endParaRPr>
          </a:p>
        </p:txBody>
      </p:sp>
      <p:sp>
        <p:nvSpPr>
          <p:cNvPr id="421" name="TextBox 421"/>
          <p:cNvSpPr txBox="1"/>
          <p:nvPr/>
        </p:nvSpPr>
        <p:spPr>
          <a:xfrm>
            <a:off x="142000" y="2750000"/>
            <a:ext cx="2820000" cy="19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400" b="1" dirty="0">
                <a:solidFill>
                  <a:schemeClr val="lt1"/>
                </a:solidFill>
              </a:rPr>
              <a:t>Metric failure</a:t>
            </a:r>
            <a:endParaRPr sz="1400">
              <a:solidFill>
                <a:schemeClr val="lt1"/>
              </a:solidFill>
            </a:endParaRPr>
          </a:p>
          <a:p>
            <a:pPr marL="0" lvl="0" indent="0" algn="ctr" rtl="0">
              <a:lnSpc>
                <a:spcPct val="115000"/>
              </a:lnSpc>
              <a:spcBef>
                <a:spcPts val="0"/>
              </a:spcBef>
              <a:spcAft>
                <a:spcPts val="400"/>
              </a:spcAft>
              <a:buNone/>
            </a:pPr>
            <a:r>
              <a:rPr lang="en-GB" sz="1250" dirty="0">
                <a:solidFill>
                  <a:schemeClr val="lt1"/>
                </a:solidFill>
              </a:rPr>
              <a:t>'golf' — correct</a:t>
            </a:r>
            <a:endParaRPr sz="1250">
              <a:solidFill>
                <a:schemeClr val="lt1"/>
              </a:solidFill>
            </a:endParaRPr>
          </a:p>
          <a:p>
            <a:pPr marL="0" lvl="0" indent="0" algn="ctr" rtl="0">
              <a:lnSpc>
                <a:spcPct val="115000"/>
              </a:lnSpc>
              <a:spcBef>
                <a:spcPts val="0"/>
              </a:spcBef>
              <a:spcAft>
                <a:spcPts val="400"/>
              </a:spcAft>
              <a:buNone/>
            </a:pPr>
            <a:r>
              <a:rPr lang="en-GB" sz="1250" dirty="0">
                <a:solidFill>
                  <a:schemeClr val="lt1"/>
                </a:solidFill>
              </a:rPr>
              <a:t>scored 0.0000</a:t>
            </a:r>
            <a:endParaRPr sz="1250">
              <a:solidFill>
                <a:schemeClr val="lt1"/>
              </a:solidFill>
            </a:endParaRPr>
          </a:p>
        </p:txBody>
      </p:sp>
      <p:sp>
        <p:nvSpPr>
          <p:cNvPr id="422" name="TextBox 422"/>
          <p:cNvSpPr txBox="1"/>
          <p:nvPr/>
        </p:nvSpPr>
        <p:spPr>
          <a:xfrm>
            <a:off x="3162000" y="2750000"/>
            <a:ext cx="2820000" cy="19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400" b="1" dirty="0">
                <a:solidFill>
                  <a:schemeClr val="lt1"/>
                </a:solidFill>
              </a:rPr>
              <a:t>System failure</a:t>
            </a:r>
            <a:endParaRPr sz="1400">
              <a:solidFill>
                <a:schemeClr val="lt1"/>
              </a:solidFill>
            </a:endParaRPr>
          </a:p>
          <a:p>
            <a:pPr marL="0" lvl="0" indent="0" algn="ctr" rtl="0">
              <a:lnSpc>
                <a:spcPct val="115000"/>
              </a:lnSpc>
              <a:spcBef>
                <a:spcPts val="0"/>
              </a:spcBef>
              <a:spcAft>
                <a:spcPts val="400"/>
              </a:spcAft>
              <a:buNone/>
            </a:pPr>
            <a:r>
              <a:rPr lang="en-GB" sz="1250" dirty="0">
                <a:solidFill>
                  <a:schemeClr val="lt1"/>
                </a:solidFill>
              </a:rPr>
              <a:t>'ivanovic' — wrong</a:t>
            </a:r>
            <a:endParaRPr sz="1250">
              <a:solidFill>
                <a:schemeClr val="lt1"/>
              </a:solidFill>
            </a:endParaRPr>
          </a:p>
          <a:p>
            <a:pPr marL="0" lvl="0" indent="0" algn="ctr" rtl="0">
              <a:lnSpc>
                <a:spcPct val="115000"/>
              </a:lnSpc>
              <a:spcBef>
                <a:spcPts val="0"/>
              </a:spcBef>
              <a:spcAft>
                <a:spcPts val="400"/>
              </a:spcAft>
              <a:buNone/>
            </a:pPr>
            <a:r>
              <a:rPr lang="en-GB" sz="1250" dirty="0">
                <a:solidFill>
                  <a:schemeClr val="lt1"/>
                </a:solidFill>
              </a:rPr>
              <a:t>scored 0.0000</a:t>
            </a:r>
            <a:endParaRPr sz="1250">
              <a:solidFill>
                <a:schemeClr val="lt1"/>
              </a:solidFill>
            </a:endParaRPr>
          </a:p>
          <a:p>
            <a:pPr marL="0" lvl="0" indent="0" algn="ctr" rtl="0">
              <a:lnSpc>
                <a:spcPct val="115000"/>
              </a:lnSpc>
              <a:spcBef>
                <a:spcPts val="0"/>
              </a:spcBef>
              <a:spcAft>
                <a:spcPts val="400"/>
              </a:spcAft>
              <a:buNone/>
            </a:pPr>
            <a:r>
              <a:rPr lang="en-GB" sz="1250" dirty="0">
                <a:solidFill>
                  <a:schemeClr val="lt1"/>
                </a:solidFill>
              </a:rPr>
              <a:t>4 of 10 answers wrong</a:t>
            </a:r>
            <a:endParaRPr sz="1250">
              <a:solidFill>
                <a:schemeClr val="lt1"/>
              </a:solidFill>
            </a:endParaRPr>
          </a:p>
        </p:txBody>
      </p:sp>
      <p:sp>
        <p:nvSpPr>
          <p:cNvPr id="423" name="TextBox 423"/>
          <p:cNvSpPr txBox="1"/>
          <p:nvPr/>
        </p:nvSpPr>
        <p:spPr>
          <a:xfrm>
            <a:off x="6182000" y="2750000"/>
            <a:ext cx="2820000" cy="19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400" b="1" dirty="0">
                <a:solidFill>
                  <a:schemeClr val="lt1"/>
                </a:solidFill>
              </a:rPr>
              <a:t>What we'd do instead</a:t>
            </a:r>
            <a:endParaRPr sz="1400">
              <a:solidFill>
                <a:schemeClr val="lt1"/>
              </a:solidFill>
            </a:endParaRPr>
          </a:p>
          <a:p>
            <a:pPr marL="0" lvl="0" indent="0" algn="ctr" rtl="0">
              <a:lnSpc>
                <a:spcPct val="115000"/>
              </a:lnSpc>
              <a:spcBef>
                <a:spcPts val="0"/>
              </a:spcBef>
              <a:spcAft>
                <a:spcPts val="400"/>
              </a:spcAft>
              <a:buNone/>
            </a:pPr>
            <a:r>
              <a:rPr lang="en-GB" sz="1250" dirty="0">
                <a:solidFill>
                  <a:schemeClr val="lt1"/>
                </a:solidFill>
              </a:rPr>
              <a:t>Recall@k for retrieval</a:t>
            </a:r>
            <a:endParaRPr sz="1250">
              <a:solidFill>
                <a:schemeClr val="lt1"/>
              </a:solidFill>
            </a:endParaRPr>
          </a:p>
          <a:p>
            <a:pPr marL="0" lvl="0" indent="0" algn="ctr" rtl="0">
              <a:lnSpc>
                <a:spcPct val="115000"/>
              </a:lnSpc>
              <a:spcBef>
                <a:spcPts val="0"/>
              </a:spcBef>
              <a:spcAft>
                <a:spcPts val="400"/>
              </a:spcAft>
              <a:buNone/>
            </a:pPr>
            <a:r>
              <a:rPr lang="en-GB" sz="1250" dirty="0">
                <a:solidFill>
                  <a:schemeClr val="lt1"/>
                </a:solidFill>
              </a:rPr>
              <a:t>BERTScore for answers</a:t>
            </a:r>
            <a:endParaRPr sz="1250">
              <a:solidFill>
                <a:schemeClr val="lt1"/>
              </a:solidFill>
            </a:endParaRPr>
          </a:p>
        </p:txBody>
      </p:sp>
      <p:cxnSp>
        <p:nvCxnSpPr>
          <p:cNvPr id="430" name="Line 430"/>
          <p:cNvCxnSpPr/>
          <p:nvPr/>
        </p:nvCxnSpPr>
        <p:spPr>
          <a:xfrm>
            <a:off x="3062000" y="2750000"/>
            <a:ext cx="5700" cy="1900000"/>
          </a:xfrm>
          <a:prstGeom prst="straightConnector1">
            <a:avLst/>
          </a:prstGeom>
          <a:noFill/>
          <a:ln w="9525" cap="flat" cmpd="sng">
            <a:solidFill>
              <a:schemeClr val="dk2"/>
            </a:solidFill>
            <a:prstDash val="solid"/>
            <a:round/>
            <a:headEnd type="none" w="med" len="med"/>
            <a:tailEnd type="none" w="med" len="med"/>
          </a:ln>
        </p:spPr>
      </p:cxnSp>
      <p:cxnSp>
        <p:nvCxnSpPr>
          <p:cNvPr id="431" name="Line 431"/>
          <p:cNvCxnSpPr/>
          <p:nvPr/>
        </p:nvCxnSpPr>
        <p:spPr>
          <a:xfrm>
            <a:off x="6082000" y="2750000"/>
            <a:ext cx="5700" cy="19000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25"/>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Streamlit</a:t>
            </a:r>
            <a:endParaRPr/>
          </a:p>
        </p:txBody>
      </p:sp>
      <p:sp>
        <p:nvSpPr>
          <p:cNvPr id="232" name="Google Shape;232;p25"/>
          <p:cNvSpPr txBox="1">
            <a:spLocks noGrp="1"/>
          </p:cNvSpPr>
          <p:nvPr>
            <p:ph type="body" idx="1"/>
          </p:nvPr>
        </p:nvSpPr>
        <p:spPr>
          <a:xfrm>
            <a:off x="1297500" y="1567550"/>
            <a:ext cx="7038900" cy="224028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sz="1200">
                <a:latin typeface="Arial"/>
                <a:ea typeface="Arial"/>
                <a:cs typeface="Arial"/>
                <a:sym typeface="Arial"/>
              </a:rPr>
              <a:t>TAB 1</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Where you paste any news text and get a live category prediction with confidence scores.</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Tab 2</a:t>
            </a:r>
            <a:endParaRPr sz="1200">
              <a:latin typeface="Arial"/>
              <a:ea typeface="Arial"/>
              <a:cs typeface="Arial"/>
              <a:sym typeface="Arial"/>
            </a:endParaRPr>
          </a:p>
          <a:p>
            <a:pPr marL="0" lvl="0" indent="0" algn="l" rtl="0">
              <a:spcBef>
                <a:spcPts val="1200"/>
              </a:spcBef>
              <a:spcAft>
                <a:spcPts val="0"/>
              </a:spcAft>
              <a:buNone/>
            </a:pPr>
            <a:r>
              <a:rPr lang="en-GB" sz="1200">
                <a:latin typeface="Arial"/>
                <a:ea typeface="Arial"/>
                <a:cs typeface="Arial"/>
                <a:sym typeface="Arial"/>
              </a:rPr>
              <a:t>Where you can ask the RAG chatbot a question and see both its answer and the source articles it retrieved. </a:t>
            </a:r>
            <a:endParaRPr sz="1200">
              <a:latin typeface="Arial"/>
              <a:ea typeface="Arial"/>
              <a:cs typeface="Arial"/>
              <a:sym typeface="Arial"/>
            </a:endParaRPr>
          </a:p>
          <a:p>
            <a:pPr marL="0" lvl="0" indent="0" algn="l" rtl="0">
              <a:spcBef>
                <a:spcPts val="1200"/>
              </a:spcBef>
              <a:spcAft>
                <a:spcPts val="1200"/>
              </a:spcAft>
              <a:buNone/>
            </a:pPr>
            <a:r>
              <a:rPr lang="en-GB" sz="1200">
                <a:latin typeface="Arial"/>
                <a:ea typeface="Arial"/>
                <a:cs typeface="Arial"/>
                <a:sym typeface="Arial"/>
              </a:rPr>
              <a:t>(Start Hopeful Live demonstration here)</a:t>
            </a:r>
            <a:endParaRPr sz="1200">
              <a:latin typeface="Arial"/>
              <a:ea typeface="Arial"/>
              <a:cs typeface="Arial"/>
              <a:sym typeface="Arial"/>
            </a:endParaRPr>
          </a:p>
        </p:txBody>
      </p:sp>
      <p:pic>
        <p:nvPicPr>
          <p:cNvPr id="233" name="Picture 232" descr="image.png"/>
          <p:cNvPicPr>
            <a:picLocks noChangeAspect="1"/>
          </p:cNvPicPr>
          <p:nvPr/>
        </p:nvPicPr>
        <p:blipFill>
          <a:blip r:embed="rId3"/>
          <a:stretch>
            <a:fillRect/>
          </a:stretch>
        </p:blipFill>
        <p:spPr>
          <a:xfrm>
            <a:off x="848750" y="3602736"/>
            <a:ext cx="3629505" cy="1408176"/>
          </a:xfrm>
          <a:prstGeom prst="rect">
            <a:avLst/>
          </a:prstGeom>
        </p:spPr>
      </p:pic>
      <p:pic>
        <p:nvPicPr>
          <p:cNvPr id="234" name="Picture 233" descr="image.png"/>
          <p:cNvPicPr>
            <a:picLocks noChangeAspect="1"/>
          </p:cNvPicPr>
          <p:nvPr/>
        </p:nvPicPr>
        <p:blipFill>
          <a:blip r:embed="rId4"/>
          <a:stretch>
            <a:fillRect/>
          </a:stretch>
        </p:blipFill>
        <p:spPr>
          <a:xfrm>
            <a:off x="4752575" y="3602736"/>
            <a:ext cx="3542674" cy="140817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p:cNvGrpSpPr/>
        <p:nvPr/>
      </p:nvGrpSpPr>
      <p:grpSpPr>
        <a:xfrm>
          <a:off x="0" y="0"/>
          <a:ext cx="0" cy="0"/>
          <a:chOff x="0" y="0"/>
          <a:chExt cx="0" cy="0"/>
        </a:xfrm>
      </p:grpSpPr>
      <p:sp>
        <p:nvSpPr>
          <p:cNvPr id="439" name="Title"/>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Conclusion</a:t>
            </a:r>
            <a:endParaRPr/>
          </a:p>
        </p:txBody>
      </p:sp>
      <p:sp>
        <p:nvSpPr>
          <p:cNvPr id="440" name="TextBox 440"/>
          <p:cNvSpPr txBox="1"/>
          <p:nvPr/>
        </p:nvSpPr>
        <p:spPr>
          <a:xfrm>
            <a:off x="152000" y="1650000"/>
            <a:ext cx="2800000" cy="1300000"/>
          </a:xfrm>
          <a:prstGeom prst="roundRect">
            <a:avLst>
              <a:gd name="adj" fmla="val 8000"/>
            </a:avLst>
          </a:prstGeom>
          <a:solidFill>
            <a:schemeClr val="lt2">
              <a:alpha val="25000"/>
            </a:schemeClr>
          </a:solid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350" b="1" dirty="0">
                <a:solidFill>
                  <a:schemeClr val="lt1"/>
                </a:solidFill>
              </a:rPr>
              <a:t>Raw text → deployed chatbot</a:t>
            </a:r>
            <a:endParaRPr sz="1350">
              <a:solidFill>
                <a:schemeClr val="lt1"/>
              </a:solidFill>
            </a:endParaRPr>
          </a:p>
          <a:p>
            <a:pPr marL="0" lvl="0" indent="0" algn="ctr" rtl="0">
              <a:lnSpc>
                <a:spcPct val="115000"/>
              </a:lnSpc>
              <a:spcBef>
                <a:spcPts val="0"/>
              </a:spcBef>
              <a:spcAft>
                <a:spcPts val="400"/>
              </a:spcAft>
              <a:buNone/>
            </a:pPr>
            <a:r>
              <a:rPr lang="en-GB" sz="1100" dirty="0">
                <a:solidFill>
                  <a:schemeClr val="lt1"/>
                </a:solidFill>
              </a:rPr>
              <a:t>end-to-end, live on Streamlit</a:t>
            </a:r>
            <a:endParaRPr sz="1100">
              <a:solidFill>
                <a:schemeClr val="lt1"/>
              </a:solidFill>
            </a:endParaRPr>
          </a:p>
        </p:txBody>
      </p:sp>
      <p:sp>
        <p:nvSpPr>
          <p:cNvPr id="441" name="TextBox 441"/>
          <p:cNvSpPr txBox="1"/>
          <p:nvPr/>
        </p:nvSpPr>
        <p:spPr>
          <a:xfrm>
            <a:off x="3172000" y="1650000"/>
            <a:ext cx="2800000" cy="1300000"/>
          </a:xfrm>
          <a:prstGeom prst="roundRect">
            <a:avLst>
              <a:gd name="adj" fmla="val 8000"/>
            </a:avLst>
          </a:prstGeom>
          <a:solidFill>
            <a:schemeClr val="lt2">
              <a:alpha val="25000"/>
            </a:schemeClr>
          </a:solid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350" b="1" dirty="0">
                <a:solidFill>
                  <a:schemeClr val="lt1"/>
                </a:solidFill>
              </a:rPr>
              <a:t>Seven techniques, one pipeline</a:t>
            </a:r>
            <a:endParaRPr sz="1350">
              <a:solidFill>
                <a:schemeClr val="lt1"/>
              </a:solidFill>
            </a:endParaRPr>
          </a:p>
          <a:p>
            <a:pPr marL="0" lvl="0" indent="0" algn="ctr" rtl="0">
              <a:lnSpc>
                <a:spcPct val="115000"/>
              </a:lnSpc>
              <a:spcBef>
                <a:spcPts val="0"/>
              </a:spcBef>
              <a:spcAft>
                <a:spcPts val="400"/>
              </a:spcAft>
              <a:buNone/>
            </a:pPr>
            <a:r>
              <a:rPr lang="en-GB" sz="1100" dirty="0">
                <a:solidFill>
                  <a:schemeClr val="lt1"/>
                </a:solidFill>
              </a:rPr>
              <a:t>topics · classifiers · deep learning · XAI · RAG</a:t>
            </a:r>
            <a:endParaRPr sz="1100">
              <a:solidFill>
                <a:schemeClr val="lt1"/>
              </a:solidFill>
            </a:endParaRPr>
          </a:p>
        </p:txBody>
      </p:sp>
      <p:sp>
        <p:nvSpPr>
          <p:cNvPr id="442" name="TextBox 442"/>
          <p:cNvSpPr txBox="1"/>
          <p:nvPr/>
        </p:nvSpPr>
        <p:spPr>
          <a:xfrm>
            <a:off x="6192000" y="1650000"/>
            <a:ext cx="2800000" cy="1300000"/>
          </a:xfrm>
          <a:prstGeom prst="roundRect">
            <a:avLst>
              <a:gd name="adj" fmla="val 8000"/>
            </a:avLst>
          </a:prstGeom>
          <a:solidFill>
            <a:schemeClr val="lt2">
              <a:alpha val="25000"/>
            </a:schemeClr>
          </a:solid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400"/>
              </a:spcAft>
              <a:buNone/>
            </a:pPr>
            <a:r>
              <a:rPr lang="en-GB" sz="1350" b="1" dirty="0">
                <a:solidFill>
                  <a:schemeClr val="lt1"/>
                </a:solidFill>
              </a:rPr>
              <a:t>Pre-training, not depth</a:t>
            </a:r>
            <a:endParaRPr sz="1350">
              <a:solidFill>
                <a:schemeClr val="lt1"/>
              </a:solidFill>
            </a:endParaRPr>
          </a:p>
          <a:p>
            <a:pPr marL="0" lvl="0" indent="0" algn="ctr" rtl="0">
              <a:lnSpc>
                <a:spcPct val="115000"/>
              </a:lnSpc>
              <a:spcBef>
                <a:spcPts val="0"/>
              </a:spcBef>
              <a:spcAft>
                <a:spcPts val="400"/>
              </a:spcAft>
              <a:buNone/>
            </a:pPr>
            <a:r>
              <a:rPr lang="en-GB" sz="1100" dirty="0">
                <a:solidFill>
                  <a:schemeClr val="lt1"/>
                </a:solidFill>
              </a:rPr>
              <a:t>the leaderboard winner is not always the one to ship</a:t>
            </a:r>
            <a:endParaRPr sz="1100">
              <a:solidFill>
                <a:schemeClr val="lt1"/>
              </a:solidFill>
            </a:endParaRPr>
          </a:p>
        </p:txBody>
      </p:sp>
      <p:sp>
        <p:nvSpPr>
          <p:cNvPr id="450" name="TextBox 450"/>
          <p:cNvSpPr txBox="1"/>
          <p:nvPr/>
        </p:nvSpPr>
        <p:spPr>
          <a:xfrm>
            <a:off x="822000" y="3450000"/>
            <a:ext cx="7500000" cy="1100000"/>
          </a:xfrm>
          <a:prstGeom prst="roundRect">
            <a:avLst>
              <a:gd name="adj" fmla="val 8000"/>
            </a:avLst>
          </a:prstGeom>
          <a:noFill/>
          <a:ln>
            <a:noFill/>
          </a:ln>
        </p:spPr>
        <p:txBody>
          <a:bodyPr spcFirstLastPara="1" wrap="square" lIns="91425" tIns="45700" rIns="91425" bIns="45700" anchor="t" anchorCtr="0">
            <a:noAutofit/>
          </a:bodyPr>
          <a:lstStyle/>
          <a:p>
            <a:pPr marL="0" lvl="0" indent="0" algn="ctr" rtl="0">
              <a:lnSpc>
                <a:spcPct val="115000"/>
              </a:lnSpc>
              <a:spcBef>
                <a:spcPts val="0"/>
              </a:spcBef>
              <a:spcAft>
                <a:spcPts val="500"/>
              </a:spcAft>
              <a:buNone/>
            </a:pPr>
            <a:r>
              <a:rPr lang="en-GB" sz="1400" b="1" dirty="0">
                <a:solidFill>
                  <a:schemeClr val="lt1"/>
                </a:solidFill>
              </a:rPr>
              <a:t>Future work</a:t>
            </a:r>
            <a:endParaRPr sz="1400">
              <a:solidFill>
                <a:schemeClr val="lt1"/>
              </a:solidFill>
            </a:endParaRPr>
          </a:p>
          <a:p>
            <a:pPr marL="0" lvl="0" indent="0" algn="ctr" rtl="0">
              <a:lnSpc>
                <a:spcPct val="115000"/>
              </a:lnSpc>
              <a:spcBef>
                <a:spcPts val="0"/>
              </a:spcBef>
              <a:spcAft>
                <a:spcPts val="500"/>
              </a:spcAft>
              <a:buNone/>
            </a:pPr>
            <a:r>
              <a:rPr lang="en-GB" sz="1300" dirty="0">
                <a:solidFill>
                  <a:schemeClr val="lt1"/>
                </a:solidFill>
              </a:rPr>
              <a:t>GloVe/FastText init for the LSTM · separate retrieval / generation eval · a harder corpus (sarcasm, fine-grained sentiment)</a:t>
            </a:r>
            <a:endParaRPr sz="1300">
              <a:solidFill>
                <a:schemeClr val="l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27"/>
          <p:cNvSpPr txBox="1">
            <a:spLocks noGrp="1"/>
          </p:cNvSpPr>
          <p:nvPr>
            <p:ph type="ctrTitle"/>
          </p:nvPr>
        </p:nvSpPr>
        <p:spPr>
          <a:xfrm>
            <a:off x="3537150" y="1578400"/>
            <a:ext cx="5017500" cy="157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Thank You</a:t>
            </a:r>
            <a:endParaRPr/>
          </a:p>
        </p:txBody>
      </p:sp>
      <p:sp>
        <p:nvSpPr>
          <p:cNvPr id="245" name="Google Shape;245;p27"/>
          <p:cNvSpPr txBox="1">
            <a:spLocks noGrp="1"/>
          </p:cNvSpPr>
          <p:nvPr>
            <p:ph type="subTitle" idx="1"/>
          </p:nvPr>
        </p:nvSpPr>
        <p:spPr>
          <a:xfrm>
            <a:off x="5083950" y="3924925"/>
            <a:ext cx="3470700" cy="506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a:t>Questions?</a:t>
            </a:r>
            <a:endParaRPr/>
          </a:p>
        </p:txBody>
      </p:sp>
    </p:spTree>
  </p:cSld>
  <p:clrMapOvr>
    <a:masterClrMapping/>
  </p:clrMapOvr>
</p:sld>
</file>

<file path=ppt/theme/theme1.xml><?xml version="1.0" encoding="utf-8"?>
<a:theme xmlns:a="http://schemas.openxmlformats.org/drawingml/2006/main"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1140</Words>
  <Application>Microsoft Office PowerPoint</Application>
  <PresentationFormat>On-screen Show (16:9)</PresentationFormat>
  <Paragraphs>125</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Montserrat</vt:lpstr>
      <vt:lpstr>Lato</vt:lpstr>
      <vt:lpstr>Arial</vt:lpstr>
      <vt:lpstr>Focus</vt:lpstr>
      <vt:lpstr>NLP BBC Project</vt:lpstr>
      <vt:lpstr>What is our project</vt:lpstr>
      <vt:lpstr>Preprocessing</vt:lpstr>
      <vt:lpstr>Feature Engineering</vt:lpstr>
      <vt:lpstr>Topic Modelling (Unsupervised)</vt:lpstr>
      <vt:lpstr>Topic Modelling (Supervised)</vt:lpstr>
      <vt:lpstr>Explainability</vt:lpstr>
      <vt:lpstr>Deep Learning</vt:lpstr>
      <vt:lpstr>Deep Learning Continued</vt:lpstr>
      <vt:lpstr>RAG</vt:lpstr>
      <vt:lpstr>PowerPoint Presentation</vt:lpstr>
      <vt:lpstr>RAG Continued</vt:lpstr>
      <vt:lpstr>Streamlit</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Daniela Cook</cp:lastModifiedBy>
  <cp:revision>1</cp:revision>
  <dcterms:modified xsi:type="dcterms:W3CDTF">2026-07-21T18:33:53Z</dcterms:modified>
</cp:coreProperties>
</file>