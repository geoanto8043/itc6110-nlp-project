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Lato" panose="020F0502020204030203" pitchFamily="34" charset="0"/>
      <p:regular r:id="rId18"/>
      <p:bold r:id="rId19"/>
      <p:italic r:id="rId20"/>
      <p:boldItalic r:id="rId21"/>
    </p:embeddedFont>
    <p:embeddedFont>
      <p:font typeface="Montserrat" panose="020F0502020204030204"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93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54def3d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54def3d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f54def3d91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f54def3d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54def3d91_0_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f54def3d91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f54def3d91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f54def3d9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f54def3d91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f54def3d9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f54def3d91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f54def3d9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f54def3d91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f54def3d9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f54def3d91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f54def3d9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f54def3d91_0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f54def3d91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f54def3d91_0_2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f54def3d91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f54def3d91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f54def3d91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f54def3d91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f54def3d91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f54def3d91_0_2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f54def3d91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f54def3d91_0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f54def3d91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NLP BBC Project</a:t>
            </a:r>
            <a:endParaRPr/>
          </a:p>
        </p:txBody>
      </p:sp>
      <p:sp>
        <p:nvSpPr>
          <p:cNvPr id="135" name="Google Shape;135;p13"/>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GB">
                <a:latin typeface="Arial"/>
                <a:ea typeface="Arial"/>
                <a:cs typeface="Arial"/>
                <a:sym typeface="Arial"/>
              </a:rPr>
              <a:t>George Antonakis · Samuel Cook · Orestis Pappas </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What is our project</a:t>
            </a:r>
            <a:endParaRPr/>
          </a:p>
        </p:txBody>
      </p:sp>
      <p:sp>
        <p:nvSpPr>
          <p:cNvPr id="141" name="Google Shape;141;p14"/>
          <p:cNvSpPr txBox="1">
            <a:spLocks noGrp="1"/>
          </p:cNvSpPr>
          <p:nvPr>
            <p:ph type="body" idx="1"/>
          </p:nvPr>
        </p:nvSpPr>
        <p:spPr>
          <a:xfrm>
            <a:off x="54150" y="1337225"/>
            <a:ext cx="4306200" cy="380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latin typeface="Arial"/>
                <a:ea typeface="Arial"/>
                <a:cs typeface="Arial"/>
                <a:sym typeface="Arial"/>
              </a:rPr>
              <a:t>end-to-end NLP pipeline built on the BBC News dataset </a:t>
            </a:r>
            <a:endParaRPr>
              <a:latin typeface="Arial"/>
              <a:ea typeface="Arial"/>
              <a:cs typeface="Arial"/>
              <a:sym typeface="Arial"/>
            </a:endParaRPr>
          </a:p>
          <a:p>
            <a:pPr marL="0" lvl="0" indent="0" algn="l" rtl="0">
              <a:spcBef>
                <a:spcPts val="1200"/>
              </a:spcBef>
              <a:spcAft>
                <a:spcPts val="0"/>
              </a:spcAft>
              <a:buNone/>
            </a:pPr>
            <a:r>
              <a:rPr lang="en-GB">
                <a:latin typeface="Arial"/>
                <a:ea typeface="Arial"/>
                <a:cs typeface="Arial"/>
                <a:sym typeface="Arial"/>
              </a:rPr>
              <a:t>2,225 news articles from 2004 and 2005 </a:t>
            </a:r>
            <a:endParaRPr>
              <a:latin typeface="Arial"/>
              <a:ea typeface="Arial"/>
              <a:cs typeface="Arial"/>
              <a:sym typeface="Arial"/>
            </a:endParaRPr>
          </a:p>
          <a:p>
            <a:pPr marL="0" lvl="0" indent="0" algn="l" rtl="0">
              <a:spcBef>
                <a:spcPts val="1200"/>
              </a:spcBef>
              <a:spcAft>
                <a:spcPts val="0"/>
              </a:spcAft>
              <a:buNone/>
            </a:pPr>
            <a:r>
              <a:rPr lang="en-GB">
                <a:latin typeface="Arial"/>
                <a:ea typeface="Arial"/>
                <a:cs typeface="Arial"/>
                <a:sym typeface="Arial"/>
              </a:rPr>
              <a:t>five categories: business, entertainment, politics, sport, and tech.  </a:t>
            </a:r>
            <a:endParaRPr>
              <a:latin typeface="Arial"/>
              <a:ea typeface="Arial"/>
              <a:cs typeface="Arial"/>
              <a:sym typeface="Arial"/>
            </a:endParaRPr>
          </a:p>
          <a:p>
            <a:pPr marL="0" lvl="0" indent="0" algn="l" rtl="0">
              <a:spcBef>
                <a:spcPts val="1200"/>
              </a:spcBef>
              <a:spcAft>
                <a:spcPts val="0"/>
              </a:spcAft>
              <a:buNone/>
            </a:pPr>
            <a:endParaRPr>
              <a:latin typeface="Arial"/>
              <a:ea typeface="Arial"/>
              <a:cs typeface="Arial"/>
              <a:sym typeface="Arial"/>
            </a:endParaRPr>
          </a:p>
          <a:p>
            <a:pPr marL="0" lvl="0" indent="0" algn="l" rtl="0">
              <a:spcBef>
                <a:spcPts val="1200"/>
              </a:spcBef>
              <a:spcAft>
                <a:spcPts val="0"/>
              </a:spcAft>
              <a:buNone/>
            </a:pPr>
            <a:r>
              <a:rPr lang="en-GB">
                <a:latin typeface="Arial"/>
                <a:ea typeface="Arial"/>
                <a:cs typeface="Arial"/>
                <a:sym typeface="Arial"/>
              </a:rPr>
              <a:t>The data comes from HuggingFace's </a:t>
            </a:r>
            <a:endParaRPr>
              <a:latin typeface="Arial"/>
              <a:ea typeface="Arial"/>
              <a:cs typeface="Arial"/>
              <a:sym typeface="Arial"/>
            </a:endParaRPr>
          </a:p>
          <a:p>
            <a:pPr marL="0" lvl="0" indent="0" algn="l" rtl="0">
              <a:spcBef>
                <a:spcPts val="1200"/>
              </a:spcBef>
              <a:spcAft>
                <a:spcPts val="1200"/>
              </a:spcAft>
              <a:buNone/>
            </a:pPr>
            <a:r>
              <a:rPr lang="en-GB">
                <a:latin typeface="Arial"/>
                <a:ea typeface="Arial"/>
                <a:cs typeface="Arial"/>
                <a:sym typeface="Arial"/>
              </a:rPr>
              <a:t>The categories are reasonably balanced — sport and business are the largest, tech and entertainment slightly smaller, but no category dominates. </a:t>
            </a:r>
            <a:endParaRPr>
              <a:latin typeface="Arial"/>
              <a:ea typeface="Arial"/>
              <a:cs typeface="Arial"/>
              <a:sym typeface="Arial"/>
            </a:endParaRPr>
          </a:p>
        </p:txBody>
      </p:sp>
      <p:pic>
        <p:nvPicPr>
          <p:cNvPr id="142" name="Google Shape;142;p14"/>
          <p:cNvPicPr preferRelativeResize="0"/>
          <p:nvPr/>
        </p:nvPicPr>
        <p:blipFill>
          <a:blip r:embed="rId3">
            <a:alphaModFix/>
          </a:blip>
          <a:stretch>
            <a:fillRect/>
          </a:stretch>
        </p:blipFill>
        <p:spPr>
          <a:xfrm>
            <a:off x="4360361" y="3314200"/>
            <a:ext cx="4783639" cy="1829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Preprocessing</a:t>
            </a:r>
            <a:endParaRPr/>
          </a:p>
        </p:txBody>
      </p:sp>
      <p:sp>
        <p:nvSpPr>
          <p:cNvPr id="148" name="Google Shape;148;p15"/>
          <p:cNvSpPr txBox="1">
            <a:spLocks noGrp="1"/>
          </p:cNvSpPr>
          <p:nvPr>
            <p:ph type="body" idx="1"/>
          </p:nvPr>
        </p:nvSpPr>
        <p:spPr>
          <a:xfrm>
            <a:off x="300500" y="1432625"/>
            <a:ext cx="2818500" cy="18264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SzPts val="1200"/>
              <a:buFont typeface="Arial"/>
              <a:buChar char="●"/>
            </a:pPr>
            <a:r>
              <a:rPr lang="en-GB" sz="1200">
                <a:latin typeface="Arial"/>
                <a:ea typeface="Arial"/>
                <a:cs typeface="Arial"/>
                <a:sym typeface="Arial"/>
              </a:rPr>
              <a:t>Checked for missing values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99 duplicate or near-duplicate articles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That left 2,126 articles</a:t>
            </a:r>
            <a:r>
              <a:rPr lang="en-GB"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p:txBody>
      </p:sp>
      <p:sp>
        <p:nvSpPr>
          <p:cNvPr id="149" name="Google Shape;149;p15"/>
          <p:cNvSpPr txBox="1"/>
          <p:nvPr/>
        </p:nvSpPr>
        <p:spPr>
          <a:xfrm>
            <a:off x="4144300" y="1107525"/>
            <a:ext cx="4583100" cy="281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lt1"/>
                </a:solidFill>
              </a:rPr>
              <a:t>We built a standard text-normalisation pipeline</a:t>
            </a:r>
            <a:r>
              <a:rPr lang="en-GB" sz="1100">
                <a:solidFill>
                  <a:schemeClr val="lt1"/>
                </a:solidFill>
              </a:rPr>
              <a:t> </a:t>
            </a:r>
            <a:endParaRPr sz="11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Lowercase </a:t>
            </a:r>
            <a:endParaRPr sz="12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Strip URLs and HTML tags </a:t>
            </a:r>
            <a:endParaRPr sz="12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Expand contractions </a:t>
            </a:r>
            <a:endParaRPr sz="12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Remove punctuation </a:t>
            </a:r>
            <a:endParaRPr sz="12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Remove stopwords </a:t>
            </a:r>
            <a:endParaRPr sz="12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Lemmatise </a:t>
            </a:r>
            <a:endParaRPr sz="1200">
              <a:solidFill>
                <a:schemeClr val="lt1"/>
              </a:solidFill>
            </a:endParaRPr>
          </a:p>
          <a:p>
            <a:pPr marL="0" lvl="0" indent="0" algn="l" rtl="0">
              <a:spcBef>
                <a:spcPts val="0"/>
              </a:spcBef>
              <a:spcAft>
                <a:spcPts val="0"/>
              </a:spcAft>
              <a:buNone/>
            </a:pPr>
            <a:endParaRPr sz="1100">
              <a:solidFill>
                <a:schemeClr val="lt1"/>
              </a:solidFill>
            </a:endParaRPr>
          </a:p>
          <a:p>
            <a:pPr marL="0" lvl="0" indent="0" algn="l" rtl="0">
              <a:spcBef>
                <a:spcPts val="0"/>
              </a:spcBef>
              <a:spcAft>
                <a:spcPts val="0"/>
              </a:spcAft>
              <a:buNone/>
            </a:pPr>
            <a:endParaRPr sz="1100">
              <a:solidFill>
                <a:schemeClr val="lt1"/>
              </a:solidFill>
            </a:endParaRPr>
          </a:p>
          <a:p>
            <a:pPr marL="0" lvl="0" indent="0" algn="l" rtl="0">
              <a:spcBef>
                <a:spcPts val="0"/>
              </a:spcBef>
              <a:spcAft>
                <a:spcPts val="0"/>
              </a:spcAft>
              <a:buNone/>
            </a:pPr>
            <a:r>
              <a:rPr lang="en-GB" sz="1200">
                <a:solidFill>
                  <a:schemeClr val="lt1"/>
                </a:solidFill>
              </a:rPr>
              <a:t>We chose lemmatisation over stemming deliberately: stemming can mangle words into non-words, which hurts readability of everything downstream, especially our topic model's keyword lists and our word-embedding neighbours.</a:t>
            </a:r>
            <a:r>
              <a:rPr lang="en-GB" sz="1100">
                <a:solidFill>
                  <a:schemeClr val="dk1"/>
                </a:solidFill>
              </a:rPr>
              <a:t> </a:t>
            </a:r>
            <a:endParaRPr sz="1100">
              <a:solidFill>
                <a:schemeClr val="dk1"/>
              </a:solidFill>
            </a:endParaRPr>
          </a:p>
        </p:txBody>
      </p:sp>
      <p:sp>
        <p:nvSpPr>
          <p:cNvPr id="150" name="Google Shape;150;p15"/>
          <p:cNvSpPr txBox="1"/>
          <p:nvPr/>
        </p:nvSpPr>
        <p:spPr>
          <a:xfrm>
            <a:off x="171825" y="3976225"/>
            <a:ext cx="8972100" cy="11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rgbClr val="F0F6FC"/>
                </a:solidFill>
              </a:rPr>
              <a:t>Kept two versions of the text throughout the whole project, the original raw text, and this cleaned version. </a:t>
            </a:r>
            <a:endParaRPr sz="1200">
              <a:solidFill>
                <a:srgbClr val="F0F6FC"/>
              </a:solidFill>
            </a:endParaRPr>
          </a:p>
          <a:p>
            <a:pPr marL="0" lvl="0" indent="0" algn="l" rtl="0">
              <a:spcBef>
                <a:spcPts val="0"/>
              </a:spcBef>
              <a:spcAft>
                <a:spcPts val="0"/>
              </a:spcAft>
              <a:buNone/>
            </a:pPr>
            <a:endParaRPr sz="1200">
              <a:solidFill>
                <a:srgbClr val="F0F6FC"/>
              </a:solidFill>
            </a:endParaRPr>
          </a:p>
          <a:p>
            <a:pPr marL="0" lvl="0" indent="0" algn="l" rtl="0">
              <a:spcBef>
                <a:spcPts val="0"/>
              </a:spcBef>
              <a:spcAft>
                <a:spcPts val="0"/>
              </a:spcAft>
              <a:buNone/>
            </a:pPr>
            <a:r>
              <a:rPr lang="en-GB" sz="1200">
                <a:solidFill>
                  <a:srgbClr val="F0F6FC"/>
                </a:solidFill>
              </a:rPr>
              <a:t>Our from-scratch models want the cleaned version, but our pretrained transformer model, DistilBERT, performs better on the original, uncleaned text, because it has its own subword tokenizer that already knows how to handle punctuation and capitalisation.</a:t>
            </a:r>
            <a:r>
              <a:rPr lang="en-GB" sz="1200">
                <a:solidFill>
                  <a:schemeClr val="dk1"/>
                </a:solidFill>
              </a:rPr>
              <a:t> </a:t>
            </a:r>
            <a:endParaRPr sz="1200">
              <a:solidFill>
                <a:schemeClr val="dk2"/>
              </a:solidFill>
            </a:endParaRPr>
          </a:p>
        </p:txBody>
      </p:sp>
      <p:cxnSp>
        <p:nvCxnSpPr>
          <p:cNvPr id="151" name="Google Shape;151;p15"/>
          <p:cNvCxnSpPr/>
          <p:nvPr/>
        </p:nvCxnSpPr>
        <p:spPr>
          <a:xfrm>
            <a:off x="3903375" y="1062700"/>
            <a:ext cx="0" cy="2765700"/>
          </a:xfrm>
          <a:prstGeom prst="straightConnector1">
            <a:avLst/>
          </a:prstGeom>
          <a:noFill/>
          <a:ln w="9525" cap="flat" cmpd="sng">
            <a:solidFill>
              <a:schemeClr val="dk2"/>
            </a:solidFill>
            <a:prstDash val="solid"/>
            <a:round/>
            <a:headEnd type="none" w="med" len="med"/>
            <a:tailEnd type="none" w="med" len="med"/>
          </a:ln>
        </p:spPr>
      </p:cxnSp>
      <p:cxnSp>
        <p:nvCxnSpPr>
          <p:cNvPr id="152" name="Google Shape;152;p15"/>
          <p:cNvCxnSpPr/>
          <p:nvPr/>
        </p:nvCxnSpPr>
        <p:spPr>
          <a:xfrm rot="10800000">
            <a:off x="-50" y="3828450"/>
            <a:ext cx="9175800" cy="357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Feature Engineering</a:t>
            </a:r>
            <a:endParaRPr/>
          </a:p>
        </p:txBody>
      </p:sp>
      <p:sp>
        <p:nvSpPr>
          <p:cNvPr id="158" name="Google Shape;158;p16"/>
          <p:cNvSpPr txBox="1">
            <a:spLocks noGrp="1"/>
          </p:cNvSpPr>
          <p:nvPr>
            <p:ph type="body" idx="1"/>
          </p:nvPr>
        </p:nvSpPr>
        <p:spPr>
          <a:xfrm>
            <a:off x="311700" y="1307850"/>
            <a:ext cx="3395700" cy="3706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latin typeface="Arial"/>
                <a:ea typeface="Arial"/>
                <a:cs typeface="Arial"/>
                <a:sym typeface="Arial"/>
              </a:rPr>
              <a:t>Built three feature representations </a:t>
            </a:r>
            <a:endParaRPr sz="1200">
              <a:latin typeface="Arial"/>
              <a:ea typeface="Arial"/>
              <a:cs typeface="Arial"/>
              <a:sym typeface="Arial"/>
            </a:endParaRPr>
          </a:p>
          <a:p>
            <a:pPr marL="457200" lvl="0" indent="-304800" algn="l" rtl="0">
              <a:spcBef>
                <a:spcPts val="1200"/>
              </a:spcBef>
              <a:spcAft>
                <a:spcPts val="0"/>
              </a:spcAft>
              <a:buSzPts val="1200"/>
              <a:buFont typeface="Arial"/>
              <a:buChar char="●"/>
            </a:pPr>
            <a:r>
              <a:rPr lang="en-GB" sz="1200">
                <a:latin typeface="Arial"/>
                <a:ea typeface="Arial"/>
                <a:cs typeface="Arial"/>
                <a:sym typeface="Arial"/>
              </a:rPr>
              <a:t>A TF-IDF matrix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 Word2Vec model </a:t>
            </a:r>
            <a:endParaRPr sz="1200">
              <a:latin typeface="Arial"/>
              <a:ea typeface="Arial"/>
              <a:cs typeface="Arial"/>
              <a:sym typeface="Arial"/>
            </a:endParaRPr>
          </a:p>
          <a:p>
            <a:pPr marL="914400" lvl="1" indent="-304800" algn="l" rtl="0">
              <a:spcBef>
                <a:spcPts val="0"/>
              </a:spcBef>
              <a:spcAft>
                <a:spcPts val="0"/>
              </a:spcAft>
              <a:buSzPts val="1200"/>
              <a:buFont typeface="Arial"/>
              <a:buChar char="○"/>
            </a:pPr>
            <a:r>
              <a:rPr lang="en-GB" sz="1200">
                <a:latin typeface="Arial"/>
                <a:ea typeface="Arial"/>
                <a:cs typeface="Arial"/>
                <a:sym typeface="Arial"/>
              </a:rPr>
              <a:t>Trained from scratch on our own corpus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Averaged Word2Vec vectors  </a:t>
            </a:r>
            <a:endParaRPr sz="1200">
              <a:latin typeface="Arial"/>
              <a:ea typeface="Arial"/>
              <a:cs typeface="Arial"/>
              <a:sym typeface="Arial"/>
            </a:endParaRPr>
          </a:p>
          <a:p>
            <a:pPr marL="0" lvl="0" indent="0" algn="l" rtl="0">
              <a:spcBef>
                <a:spcPts val="1200"/>
              </a:spcBef>
              <a:spcAft>
                <a:spcPts val="0"/>
              </a:spcAft>
              <a:buNone/>
            </a:pPr>
            <a:endParaRPr sz="1200">
              <a:latin typeface="Arial"/>
              <a:ea typeface="Arial"/>
              <a:cs typeface="Arial"/>
              <a:sym typeface="Arial"/>
            </a:endParaRPr>
          </a:p>
          <a:p>
            <a:pPr marL="0" lvl="0" indent="0" algn="l" rtl="0">
              <a:lnSpc>
                <a:spcPct val="100000"/>
              </a:lnSpc>
              <a:spcBef>
                <a:spcPts val="1200"/>
              </a:spcBef>
              <a:spcAft>
                <a:spcPts val="0"/>
              </a:spcAft>
              <a:buClr>
                <a:schemeClr val="dk1"/>
              </a:buClr>
              <a:buSzPts val="1100"/>
              <a:buFont typeface="Arial"/>
              <a:buNone/>
            </a:pPr>
            <a:r>
              <a:rPr lang="en-GB" sz="1200">
                <a:latin typeface="Arial"/>
                <a:ea typeface="Arial"/>
                <a:cs typeface="Arial"/>
                <a:sym typeface="Arial"/>
              </a:rPr>
              <a:t>As one deliverable, we built a function that takes any word and returns its most similar words by embedding distance. </a:t>
            </a:r>
            <a:endParaRPr sz="1200">
              <a:latin typeface="Arial"/>
              <a:ea typeface="Arial"/>
              <a:cs typeface="Arial"/>
              <a:sym typeface="Arial"/>
            </a:endParaRPr>
          </a:p>
          <a:p>
            <a:pPr marL="0" lvl="0" indent="0" algn="l" rtl="0">
              <a:spcBef>
                <a:spcPts val="0"/>
              </a:spcBef>
              <a:spcAft>
                <a:spcPts val="1200"/>
              </a:spcAft>
              <a:buNone/>
            </a:pPr>
            <a:endParaRPr sz="1100">
              <a:solidFill>
                <a:schemeClr val="dk1"/>
              </a:solidFill>
            </a:endParaRPr>
          </a:p>
        </p:txBody>
      </p:sp>
      <p:pic>
        <p:nvPicPr>
          <p:cNvPr id="159" name="Google Shape;159;p16"/>
          <p:cNvPicPr preferRelativeResize="0"/>
          <p:nvPr/>
        </p:nvPicPr>
        <p:blipFill>
          <a:blip r:embed="rId3">
            <a:alphaModFix/>
          </a:blip>
          <a:stretch>
            <a:fillRect/>
          </a:stretch>
        </p:blipFill>
        <p:spPr>
          <a:xfrm>
            <a:off x="4149925" y="1927600"/>
            <a:ext cx="4964101" cy="3294324"/>
          </a:xfrm>
          <a:prstGeom prst="rect">
            <a:avLst/>
          </a:prstGeom>
          <a:noFill/>
          <a:ln>
            <a:noFill/>
          </a:ln>
        </p:spPr>
      </p:pic>
      <p:sp>
        <p:nvSpPr>
          <p:cNvPr id="160" name="Google Shape;160;p16"/>
          <p:cNvSpPr txBox="1"/>
          <p:nvPr/>
        </p:nvSpPr>
        <p:spPr>
          <a:xfrm>
            <a:off x="4811050" y="980525"/>
            <a:ext cx="3832500" cy="77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lt1"/>
                </a:solidFill>
              </a:rPr>
              <a:t>To visualise the embedding space, we projected our 100-dimensional Word2Vec document vectors down to 2D using t-SNE, coloured by category </a:t>
            </a:r>
            <a:endParaRPr sz="12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Topic Modelling (Unsupervised)</a:t>
            </a:r>
            <a:endParaRPr/>
          </a:p>
        </p:txBody>
      </p:sp>
      <p:sp>
        <p:nvSpPr>
          <p:cNvPr id="166" name="Google Shape;166;p17"/>
          <p:cNvSpPr txBox="1">
            <a:spLocks noGrp="1"/>
          </p:cNvSpPr>
          <p:nvPr>
            <p:ph type="body" idx="1"/>
          </p:nvPr>
        </p:nvSpPr>
        <p:spPr>
          <a:xfrm>
            <a:off x="70300" y="1629200"/>
            <a:ext cx="3345600" cy="3456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latin typeface="Arial"/>
                <a:ea typeface="Arial"/>
                <a:cs typeface="Arial"/>
                <a:sym typeface="Arial"/>
              </a:rPr>
              <a:t>For unsupervised learning, we used Latent Dirichlet Allocation (LDA)</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We trained models for every K from 2 to 12 and scored each using coherence </a:t>
            </a: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Found K equals 10 gave the best score. </a:t>
            </a:r>
            <a:endParaRPr sz="1200">
              <a:latin typeface="Arial"/>
              <a:ea typeface="Arial"/>
              <a:cs typeface="Arial"/>
              <a:sym typeface="Arial"/>
            </a:endParaRPr>
          </a:p>
        </p:txBody>
      </p:sp>
      <p:pic>
        <p:nvPicPr>
          <p:cNvPr id="167" name="Google Shape;167;p17"/>
          <p:cNvPicPr preferRelativeResize="0"/>
          <p:nvPr/>
        </p:nvPicPr>
        <p:blipFill>
          <a:blip r:embed="rId3">
            <a:alphaModFix/>
          </a:blip>
          <a:stretch>
            <a:fillRect/>
          </a:stretch>
        </p:blipFill>
        <p:spPr>
          <a:xfrm>
            <a:off x="3378575" y="2614699"/>
            <a:ext cx="5765425" cy="2528801"/>
          </a:xfrm>
          <a:prstGeom prst="rect">
            <a:avLst/>
          </a:prstGeom>
          <a:noFill/>
          <a:ln>
            <a:noFill/>
          </a:ln>
        </p:spPr>
      </p:pic>
      <p:sp>
        <p:nvSpPr>
          <p:cNvPr id="168" name="Google Shape;168;p17"/>
          <p:cNvSpPr txBox="1"/>
          <p:nvPr/>
        </p:nvSpPr>
        <p:spPr>
          <a:xfrm>
            <a:off x="3415900" y="1025250"/>
            <a:ext cx="5491200" cy="15465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lt1"/>
              </a:buClr>
              <a:buSzPts val="1200"/>
              <a:buChar char="●"/>
            </a:pPr>
            <a:r>
              <a:rPr lang="en-GB" sz="1200">
                <a:solidFill>
                  <a:schemeClr val="lt1"/>
                </a:solidFill>
              </a:rPr>
              <a:t>Double our number of known categories. </a:t>
            </a:r>
            <a:endParaRPr sz="1200">
              <a:solidFill>
                <a:schemeClr val="lt1"/>
              </a:solidFill>
            </a:endParaRPr>
          </a:p>
          <a:p>
            <a:pPr marL="457200" lvl="0" indent="-304800" algn="l" rtl="0">
              <a:spcBef>
                <a:spcPts val="0"/>
              </a:spcBef>
              <a:spcAft>
                <a:spcPts val="0"/>
              </a:spcAft>
              <a:buClr>
                <a:schemeClr val="lt1"/>
              </a:buClr>
              <a:buSzPts val="1200"/>
              <a:buChar char="●"/>
            </a:pPr>
            <a:r>
              <a:rPr lang="en-GB" sz="1200">
                <a:solidFill>
                  <a:schemeClr val="lt1"/>
                </a:solidFill>
              </a:rPr>
              <a:t>LDA split several of our categories into finer sub-themes. </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That's not a failure — it's the unsupervised method finding real structure inside our categories that the human labels don't capture. </a:t>
            </a:r>
            <a:endParaRPr sz="12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Topic Modelling (Supervised)</a:t>
            </a:r>
            <a:endParaRPr/>
          </a:p>
        </p:txBody>
      </p:sp>
      <p:sp>
        <p:nvSpPr>
          <p:cNvPr id="174" name="Google Shape;174;p18"/>
          <p:cNvSpPr txBox="1">
            <a:spLocks noGrp="1"/>
          </p:cNvSpPr>
          <p:nvPr>
            <p:ph type="body" idx="1"/>
          </p:nvPr>
        </p:nvSpPr>
        <p:spPr>
          <a:xfrm>
            <a:off x="1297500" y="1046475"/>
            <a:ext cx="7614900" cy="236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latin typeface="Arial"/>
                <a:ea typeface="Arial"/>
                <a:cs typeface="Arial"/>
                <a:sym typeface="Arial"/>
              </a:rPr>
              <a:t> We trained three classical models on TF-IDF features </a:t>
            </a:r>
            <a:endParaRPr sz="1200">
              <a:latin typeface="Arial"/>
              <a:ea typeface="Arial"/>
              <a:cs typeface="Arial"/>
              <a:sym typeface="Arial"/>
            </a:endParaRPr>
          </a:p>
          <a:p>
            <a:pPr marL="457200" lvl="0" indent="-304800" algn="l" rtl="0">
              <a:spcBef>
                <a:spcPts val="1200"/>
              </a:spcBef>
              <a:spcAft>
                <a:spcPts val="0"/>
              </a:spcAft>
              <a:buSzPts val="1200"/>
              <a:buFont typeface="Arial"/>
              <a:buChar char="●"/>
            </a:pPr>
            <a:r>
              <a:rPr lang="en-GB" sz="1200">
                <a:latin typeface="Arial"/>
                <a:ea typeface="Arial"/>
                <a:cs typeface="Arial"/>
                <a:sym typeface="Arial"/>
              </a:rPr>
              <a:t>Logistic Regression,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Naive Bayes,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linear Support Vector Machine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TF-IDF on the training data only, to avoid any information leaking from the test set.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All three performed extremely well — between 96.5% and 97% accuracy.</a:t>
            </a: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Linear SVM was the best of the three, at 97.0% accuracy and 0.969 macro F1</a:t>
            </a:r>
            <a:r>
              <a:rPr lang="en-GB" sz="1100">
                <a:latin typeface="Arial"/>
                <a:ea typeface="Arial"/>
                <a:cs typeface="Arial"/>
                <a:sym typeface="Arial"/>
              </a:rPr>
              <a:t>.</a:t>
            </a:r>
            <a:endParaRPr sz="1100">
              <a:latin typeface="Arial"/>
              <a:ea typeface="Arial"/>
              <a:cs typeface="Arial"/>
              <a:sym typeface="Arial"/>
            </a:endParaRPr>
          </a:p>
        </p:txBody>
      </p:sp>
      <p:pic>
        <p:nvPicPr>
          <p:cNvPr id="175" name="Google Shape;175;p18"/>
          <p:cNvPicPr preferRelativeResize="0"/>
          <p:nvPr/>
        </p:nvPicPr>
        <p:blipFill>
          <a:blip r:embed="rId3">
            <a:alphaModFix/>
          </a:blip>
          <a:stretch>
            <a:fillRect/>
          </a:stretch>
        </p:blipFill>
        <p:spPr>
          <a:xfrm>
            <a:off x="1563260" y="3415875"/>
            <a:ext cx="5507664" cy="1727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Explainability</a:t>
            </a:r>
            <a:endParaRPr/>
          </a:p>
        </p:txBody>
      </p:sp>
      <p:pic>
        <p:nvPicPr>
          <p:cNvPr id="181" name="Google Shape;181;p19"/>
          <p:cNvPicPr preferRelativeResize="0"/>
          <p:nvPr/>
        </p:nvPicPr>
        <p:blipFill>
          <a:blip r:embed="rId3">
            <a:alphaModFix/>
          </a:blip>
          <a:stretch>
            <a:fillRect/>
          </a:stretch>
        </p:blipFill>
        <p:spPr>
          <a:xfrm>
            <a:off x="4301175" y="1863900"/>
            <a:ext cx="4857524" cy="3279599"/>
          </a:xfrm>
          <a:prstGeom prst="rect">
            <a:avLst/>
          </a:prstGeom>
          <a:noFill/>
          <a:ln>
            <a:noFill/>
          </a:ln>
        </p:spPr>
      </p:pic>
      <p:sp>
        <p:nvSpPr>
          <p:cNvPr id="182" name="Google Shape;182;p19"/>
          <p:cNvSpPr txBox="1"/>
          <p:nvPr/>
        </p:nvSpPr>
        <p:spPr>
          <a:xfrm>
            <a:off x="267075" y="1891925"/>
            <a:ext cx="4034100" cy="3087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a:solidFill>
                  <a:schemeClr val="lt1"/>
                </a:solidFill>
              </a:rPr>
              <a:t>Local Interpretable Model-agnostic Explanations (LIME)</a:t>
            </a:r>
            <a:endParaRPr sz="1200">
              <a:solidFill>
                <a:schemeClr val="lt1"/>
              </a:solidFill>
            </a:endParaRPr>
          </a:p>
          <a:p>
            <a:pPr marL="914400" lvl="0" indent="-304800" algn="l" rtl="0">
              <a:lnSpc>
                <a:spcPct val="115000"/>
              </a:lnSpc>
              <a:spcBef>
                <a:spcPts val="1200"/>
              </a:spcBef>
              <a:spcAft>
                <a:spcPts val="0"/>
              </a:spcAft>
              <a:buClr>
                <a:schemeClr val="lt1"/>
              </a:buClr>
              <a:buSzPts val="1200"/>
              <a:buChar char="●"/>
            </a:pPr>
            <a:r>
              <a:rPr lang="en-GB" sz="1200">
                <a:solidFill>
                  <a:schemeClr val="lt1"/>
                </a:solidFill>
              </a:rPr>
              <a:t>Explains one prediction at a time by showing which words pushed the model toward its answer. </a:t>
            </a:r>
            <a:endParaRPr sz="1200">
              <a:solidFill>
                <a:schemeClr val="lt1"/>
              </a:solidFill>
            </a:endParaRPr>
          </a:p>
          <a:p>
            <a:pPr marL="0" lvl="0" indent="0" algn="l" rtl="0">
              <a:spcBef>
                <a:spcPts val="1200"/>
              </a:spcBef>
              <a:spcAft>
                <a:spcPts val="0"/>
              </a:spcAft>
              <a:buNone/>
            </a:pPr>
            <a:r>
              <a:rPr lang="en-GB" sz="1200">
                <a:solidFill>
                  <a:schemeClr val="lt1"/>
                </a:solidFill>
              </a:rPr>
              <a:t>LIME highlights the specific words that drove the sport prediction. </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We also looked at a misclassified example to understand where the model gets confused.</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Giving us both a local and a global view of what the model has learned. </a:t>
            </a:r>
            <a:endParaRPr sz="12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Deep Learning</a:t>
            </a:r>
            <a:endParaRPr/>
          </a:p>
        </p:txBody>
      </p:sp>
      <p:sp>
        <p:nvSpPr>
          <p:cNvPr id="188" name="Google Shape;188;p20"/>
          <p:cNvSpPr txBox="1">
            <a:spLocks noGrp="1"/>
          </p:cNvSpPr>
          <p:nvPr>
            <p:ph type="body" idx="1"/>
          </p:nvPr>
        </p:nvSpPr>
        <p:spPr>
          <a:xfrm>
            <a:off x="92875" y="1776675"/>
            <a:ext cx="4096200" cy="19773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GB" sz="1200">
                <a:latin typeface="Arial"/>
                <a:ea typeface="Arial"/>
                <a:cs typeface="Arial"/>
                <a:sym typeface="Arial"/>
              </a:rPr>
              <a:t>Bidirectional LSTM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No pretrained embeddings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'From scratch' deep learning model compares to classical machine learning.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It reached 81.6% accuracy </a:t>
            </a: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Beaten by Naive Bayes, the simplest model we tried. </a:t>
            </a:r>
            <a:endParaRPr sz="1200">
              <a:latin typeface="Arial"/>
              <a:ea typeface="Arial"/>
              <a:cs typeface="Arial"/>
              <a:sym typeface="Arial"/>
            </a:endParaRPr>
          </a:p>
        </p:txBody>
      </p:sp>
      <p:sp>
        <p:nvSpPr>
          <p:cNvPr id="189" name="Google Shape;189;p20"/>
          <p:cNvSpPr txBox="1"/>
          <p:nvPr/>
        </p:nvSpPr>
        <p:spPr>
          <a:xfrm>
            <a:off x="233450" y="1395675"/>
            <a:ext cx="18267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lt1"/>
                </a:solidFill>
                <a:latin typeface="Lato"/>
                <a:ea typeface="Lato"/>
                <a:cs typeface="Lato"/>
                <a:sym typeface="Lato"/>
              </a:rPr>
              <a:t>Bidirectional LSTM</a:t>
            </a:r>
            <a:endParaRPr sz="1300">
              <a:solidFill>
                <a:schemeClr val="lt1"/>
              </a:solidFill>
              <a:latin typeface="Lato"/>
              <a:ea typeface="Lato"/>
              <a:cs typeface="Lato"/>
              <a:sym typeface="Lato"/>
            </a:endParaRPr>
          </a:p>
        </p:txBody>
      </p:sp>
      <p:sp>
        <p:nvSpPr>
          <p:cNvPr id="190" name="Google Shape;190;p20"/>
          <p:cNvSpPr txBox="1"/>
          <p:nvPr/>
        </p:nvSpPr>
        <p:spPr>
          <a:xfrm>
            <a:off x="5072700" y="1307850"/>
            <a:ext cx="2370000" cy="42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a:solidFill>
                  <a:schemeClr val="lt1"/>
                </a:solidFill>
                <a:latin typeface="Lato"/>
                <a:ea typeface="Lato"/>
                <a:cs typeface="Lato"/>
                <a:sym typeface="Lato"/>
              </a:rPr>
              <a:t>DISTILBERT</a:t>
            </a:r>
            <a:endParaRPr sz="1300">
              <a:solidFill>
                <a:schemeClr val="lt1"/>
              </a:solidFill>
              <a:latin typeface="Lato"/>
              <a:ea typeface="Lato"/>
              <a:cs typeface="Lato"/>
              <a:sym typeface="Lato"/>
            </a:endParaRPr>
          </a:p>
        </p:txBody>
      </p:sp>
      <p:sp>
        <p:nvSpPr>
          <p:cNvPr id="191" name="Google Shape;191;p20"/>
          <p:cNvSpPr txBox="1"/>
          <p:nvPr/>
        </p:nvSpPr>
        <p:spPr>
          <a:xfrm>
            <a:off x="5023450" y="1367525"/>
            <a:ext cx="3480600" cy="136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Then we fine-tuned DistilBERT </a:t>
            </a:r>
            <a:endParaRPr sz="1200">
              <a:solidFill>
                <a:schemeClr val="lt1"/>
              </a:solidFill>
            </a:endParaRPr>
          </a:p>
          <a:p>
            <a:pPr marL="0" lvl="0" indent="0" algn="l" rtl="0">
              <a:spcBef>
                <a:spcPts val="0"/>
              </a:spcBef>
              <a:spcAft>
                <a:spcPts val="0"/>
              </a:spcAft>
              <a:buNone/>
            </a:pPr>
            <a:r>
              <a:rPr lang="en-GB" sz="1200">
                <a:solidFill>
                  <a:schemeClr val="lt1"/>
                </a:solidFill>
              </a:rPr>
              <a:t>a compressed, pretrained transformer</a:t>
            </a:r>
            <a:endParaRPr sz="1200">
              <a:solidFill>
                <a:schemeClr val="lt1"/>
              </a:solidFill>
            </a:endParaRPr>
          </a:p>
          <a:p>
            <a:pPr marL="0" lvl="0" indent="0" algn="l" rtl="0">
              <a:spcBef>
                <a:spcPts val="0"/>
              </a:spcBef>
              <a:spcAft>
                <a:spcPts val="0"/>
              </a:spcAft>
              <a:buNone/>
            </a:pPr>
            <a:r>
              <a:rPr lang="en-GB" sz="1200">
                <a:solidFill>
                  <a:schemeClr val="lt1"/>
                </a:solidFill>
              </a:rPr>
              <a:t>This reached 97.2% accuracy and 0.971 macro F1  </a:t>
            </a:r>
            <a:endParaRPr sz="1200">
              <a:solidFill>
                <a:schemeClr val="lt1"/>
              </a:solidFill>
            </a:endParaRPr>
          </a:p>
        </p:txBody>
      </p:sp>
      <p:pic>
        <p:nvPicPr>
          <p:cNvPr id="192" name="Google Shape;192;p20"/>
          <p:cNvPicPr preferRelativeResize="0"/>
          <p:nvPr/>
        </p:nvPicPr>
        <p:blipFill>
          <a:blip r:embed="rId3">
            <a:alphaModFix/>
          </a:blip>
          <a:stretch>
            <a:fillRect/>
          </a:stretch>
        </p:blipFill>
        <p:spPr>
          <a:xfrm>
            <a:off x="3928675" y="2794000"/>
            <a:ext cx="5215326" cy="234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Deep Learning Continued</a:t>
            </a:r>
            <a:endParaRPr/>
          </a:p>
        </p:txBody>
      </p:sp>
      <p:sp>
        <p:nvSpPr>
          <p:cNvPr id="198" name="Google Shape;198;p21"/>
          <p:cNvSpPr txBox="1">
            <a:spLocks noGrp="1"/>
          </p:cNvSpPr>
          <p:nvPr>
            <p:ph type="body" idx="1"/>
          </p:nvPr>
        </p:nvSpPr>
        <p:spPr>
          <a:xfrm>
            <a:off x="104075" y="1830900"/>
            <a:ext cx="2751600" cy="3153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latin typeface="Arial"/>
                <a:ea typeface="Arial"/>
                <a:cs typeface="Arial"/>
                <a:sym typeface="Arial"/>
              </a:rPr>
              <a:t>The margin matters.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DistilBERT beats our Linear SVM by 0.21 percentage points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On a test set of 932 articles, that's a difference of two articles. </a:t>
            </a: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The honest reading is that a 67-million-parameter transformer and a linear model over word counts are tied.</a:t>
            </a:r>
            <a:r>
              <a:rPr lang="en-GB"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p:txBody>
      </p:sp>
      <p:sp>
        <p:nvSpPr>
          <p:cNvPr id="199" name="Google Shape;199;p21"/>
          <p:cNvSpPr txBox="1"/>
          <p:nvPr/>
        </p:nvSpPr>
        <p:spPr>
          <a:xfrm>
            <a:off x="2945300" y="1527725"/>
            <a:ext cx="2980800" cy="3518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lt1"/>
                </a:solidFill>
              </a:rPr>
              <a:t>Our two deep learning models are at opposite ends?</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DistilBERT at 97.2%, the LSTM at 81.6%. </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Meanwhile DistilBERT and a bag-of-words SVM differ by 0.2. </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DistilBERT starts from representations learned on billions of words and only has to learn the mapping onto five labels. </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The LSTM starts from random noise and has to learn what words mean and how to classify </a:t>
            </a:r>
            <a:endParaRPr sz="1200">
              <a:solidFill>
                <a:schemeClr val="lt1"/>
              </a:solidFill>
            </a:endParaRPr>
          </a:p>
        </p:txBody>
      </p:sp>
      <p:sp>
        <p:nvSpPr>
          <p:cNvPr id="200" name="Google Shape;200;p21"/>
          <p:cNvSpPr txBox="1"/>
          <p:nvPr/>
        </p:nvSpPr>
        <p:spPr>
          <a:xfrm>
            <a:off x="6015700" y="1824700"/>
            <a:ext cx="2930400" cy="311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lt1"/>
                </a:solidFill>
                <a:latin typeface="Lato"/>
                <a:ea typeface="Lato"/>
                <a:cs typeface="Lato"/>
                <a:sym typeface="Lato"/>
              </a:rPr>
              <a:t>Transformers </a:t>
            </a:r>
            <a:r>
              <a:rPr lang="en-GB" sz="1200">
                <a:solidFill>
                  <a:schemeClr val="lt1"/>
                </a:solidFill>
              </a:rPr>
              <a:t>advantage is understanding context and word sense </a:t>
            </a:r>
            <a:endParaRPr sz="1200">
              <a:solidFill>
                <a:schemeClr val="lt1"/>
              </a:solidFill>
            </a:endParaRPr>
          </a:p>
          <a:p>
            <a:pPr marL="0" lvl="0" indent="0" algn="l" rtl="0">
              <a:spcBef>
                <a:spcPts val="0"/>
              </a:spcBef>
              <a:spcAft>
                <a:spcPts val="0"/>
              </a:spcAft>
              <a:buNone/>
            </a:pPr>
            <a:endParaRPr sz="1200">
              <a:solidFill>
                <a:schemeClr val="lt1"/>
              </a:solidFill>
            </a:endParaRPr>
          </a:p>
          <a:p>
            <a:pPr marL="0" lvl="0" indent="0" algn="l" rtl="0">
              <a:spcBef>
                <a:spcPts val="0"/>
              </a:spcBef>
              <a:spcAft>
                <a:spcPts val="0"/>
              </a:spcAft>
              <a:buNone/>
            </a:pPr>
            <a:r>
              <a:rPr lang="en-GB" sz="1200">
                <a:solidFill>
                  <a:schemeClr val="lt1"/>
                </a:solidFill>
              </a:rPr>
              <a:t>BBC categories are so lexically distinct that the word 'shares' or the word 'scored' basically settles the answer on its own </a:t>
            </a:r>
            <a:endParaRPr sz="1200">
              <a:solidFill>
                <a:schemeClr val="lt1"/>
              </a:solidFill>
            </a:endParaRPr>
          </a:p>
        </p:txBody>
      </p:sp>
      <p:cxnSp>
        <p:nvCxnSpPr>
          <p:cNvPr id="201" name="Google Shape;201;p21"/>
          <p:cNvCxnSpPr/>
          <p:nvPr/>
        </p:nvCxnSpPr>
        <p:spPr>
          <a:xfrm>
            <a:off x="2850000" y="1690500"/>
            <a:ext cx="5700" cy="3434700"/>
          </a:xfrm>
          <a:prstGeom prst="straightConnector1">
            <a:avLst/>
          </a:prstGeom>
          <a:noFill/>
          <a:ln w="9525" cap="flat" cmpd="sng">
            <a:solidFill>
              <a:schemeClr val="dk2"/>
            </a:solidFill>
            <a:prstDash val="solid"/>
            <a:round/>
            <a:headEnd type="none" w="med" len="med"/>
            <a:tailEnd type="none" w="med" len="med"/>
          </a:ln>
        </p:spPr>
      </p:cxnSp>
      <p:cxnSp>
        <p:nvCxnSpPr>
          <p:cNvPr id="202" name="Google Shape;202;p21"/>
          <p:cNvCxnSpPr/>
          <p:nvPr/>
        </p:nvCxnSpPr>
        <p:spPr>
          <a:xfrm>
            <a:off x="5882350" y="1708800"/>
            <a:ext cx="5700" cy="34347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RAG</a:t>
            </a:r>
            <a:endParaRPr/>
          </a:p>
        </p:txBody>
      </p:sp>
      <p:sp>
        <p:nvSpPr>
          <p:cNvPr id="208" name="Google Shape;208;p2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latin typeface="Arial"/>
                <a:ea typeface="Arial"/>
                <a:cs typeface="Arial"/>
                <a:sym typeface="Arial"/>
              </a:rPr>
              <a:t>Retrieval-Augmented Generation system a chatbot that answers questions grounded in our article corpus, rather than making things up.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Two parts: </a:t>
            </a:r>
            <a:endParaRPr sz="1200">
              <a:latin typeface="Arial"/>
              <a:ea typeface="Arial"/>
              <a:cs typeface="Arial"/>
              <a:sym typeface="Arial"/>
            </a:endParaRPr>
          </a:p>
          <a:p>
            <a:pPr marL="457200" lvl="0" indent="-304800" algn="l" rtl="0">
              <a:spcBef>
                <a:spcPts val="1200"/>
              </a:spcBef>
              <a:spcAft>
                <a:spcPts val="0"/>
              </a:spcAft>
              <a:buSzPts val="1200"/>
              <a:buFont typeface="Arial"/>
              <a:buChar char="●"/>
            </a:pPr>
            <a:r>
              <a:rPr lang="en-GB" sz="1200">
                <a:latin typeface="Arial"/>
                <a:ea typeface="Arial"/>
                <a:cs typeface="Arial"/>
                <a:sym typeface="Arial"/>
              </a:rPr>
              <a:t>A Retriever </a:t>
            </a:r>
            <a:endParaRPr sz="1200">
              <a:latin typeface="Arial"/>
              <a:ea typeface="Arial"/>
              <a:cs typeface="Arial"/>
              <a:sym typeface="Arial"/>
            </a:endParaRPr>
          </a:p>
          <a:p>
            <a:pPr marL="457200" lvl="0" indent="-304800" algn="l" rtl="0">
              <a:spcBef>
                <a:spcPts val="0"/>
              </a:spcBef>
              <a:spcAft>
                <a:spcPts val="0"/>
              </a:spcAft>
              <a:buSzPts val="1200"/>
              <a:buFont typeface="Arial"/>
              <a:buChar char="●"/>
            </a:pPr>
            <a:r>
              <a:rPr lang="en-GB" sz="1200">
                <a:latin typeface="Arial"/>
                <a:ea typeface="Arial"/>
                <a:cs typeface="Arial"/>
                <a:sym typeface="Arial"/>
              </a:rPr>
              <a:t>A Generator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We evaluated it on ten manually written questions about topics from the corpus.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Scoring the generated answers against expected answers with ROUGE-L </a:t>
            </a: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Our mean was 0.155, with a best of 0.31 and two questions scoring zero.</a:t>
            </a:r>
            <a:r>
              <a:rPr lang="en-GB" sz="1100">
                <a:solidFill>
                  <a:srgbClr val="000000"/>
                </a:solidFill>
                <a:latin typeface="Arial"/>
                <a:ea typeface="Arial"/>
                <a:cs typeface="Arial"/>
                <a:sym typeface="Arial"/>
              </a:rPr>
              <a:t> </a:t>
            </a:r>
            <a:endParaRPr sz="110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3" name="Google Shape;213;p23"/>
          <p:cNvPicPr preferRelativeResize="0"/>
          <p:nvPr/>
        </p:nvPicPr>
        <p:blipFill>
          <a:blip r:embed="rId3">
            <a:alphaModFix/>
          </a:blip>
          <a:stretch>
            <a:fillRect/>
          </a:stretch>
        </p:blipFill>
        <p:spPr>
          <a:xfrm>
            <a:off x="0" y="1871797"/>
            <a:ext cx="9143999" cy="327170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RAG Continued</a:t>
            </a:r>
            <a:endParaRPr/>
          </a:p>
        </p:txBody>
      </p:sp>
      <p:sp>
        <p:nvSpPr>
          <p:cNvPr id="219" name="Google Shape;219;p24"/>
          <p:cNvSpPr txBox="1">
            <a:spLocks noGrp="1"/>
          </p:cNvSpPr>
          <p:nvPr>
            <p:ph type="body" idx="1"/>
          </p:nvPr>
        </p:nvSpPr>
        <p:spPr>
          <a:xfrm>
            <a:off x="0" y="1891925"/>
            <a:ext cx="3038700" cy="3221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r>
              <a:rPr lang="en-GB" sz="1200" dirty="0">
                <a:latin typeface="Arial"/>
                <a:ea typeface="Arial"/>
                <a:cs typeface="Arial"/>
                <a:sym typeface="Arial"/>
              </a:rPr>
              <a:t>Our reference for 'What sport does Tiger Woods play?' was the full sentence 'Tiger Woods is a professional golfer.' But an instruction-tuned model asked a direct question answers tersely — it says 'golf'. That answer is completely correct, and it scores exactly zero, because 'golf' and 'golfer' are different tokens with no common subsequence. Both of our zero-scoring questions are short-factoid questions of exactly that shape. </a:t>
            </a:r>
            <a:endParaRPr sz="1200" dirty="0">
              <a:latin typeface="Arial"/>
              <a:ea typeface="Arial"/>
              <a:cs typeface="Arial"/>
              <a:sym typeface="Arial"/>
            </a:endParaRPr>
          </a:p>
        </p:txBody>
      </p:sp>
      <p:sp>
        <p:nvSpPr>
          <p:cNvPr id="220" name="Google Shape;220;p24"/>
          <p:cNvSpPr txBox="1"/>
          <p:nvPr/>
        </p:nvSpPr>
        <p:spPr>
          <a:xfrm>
            <a:off x="1645400" y="1034675"/>
            <a:ext cx="6830100" cy="240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GB" sz="1200" dirty="0">
                <a:solidFill>
                  <a:schemeClr val="lt1"/>
                </a:solidFill>
              </a:rPr>
              <a:t>ROUGE-L scores the longest common subsequence against a reference answer — it rewards </a:t>
            </a:r>
            <a:r>
              <a:rPr lang="en-GB" sz="1200" i="1" dirty="0">
                <a:solidFill>
                  <a:schemeClr val="lt1"/>
                </a:solidFill>
              </a:rPr>
              <a:t>wording overlap</a:t>
            </a:r>
            <a:r>
              <a:rPr lang="en-GB" sz="1200" dirty="0">
                <a:solidFill>
                  <a:schemeClr val="lt1"/>
                </a:solidFill>
              </a:rPr>
              <a:t> </a:t>
            </a:r>
            <a:endParaRPr sz="1200" dirty="0">
              <a:solidFill>
                <a:schemeClr val="lt1"/>
              </a:solidFill>
              <a:latin typeface="Lato"/>
              <a:ea typeface="Lato"/>
              <a:cs typeface="Lato"/>
              <a:sym typeface="Lato"/>
            </a:endParaRPr>
          </a:p>
        </p:txBody>
      </p:sp>
      <p:sp>
        <p:nvSpPr>
          <p:cNvPr id="221" name="Google Shape;221;p24"/>
          <p:cNvSpPr txBox="1"/>
          <p:nvPr/>
        </p:nvSpPr>
        <p:spPr>
          <a:xfrm>
            <a:off x="0" y="1594975"/>
            <a:ext cx="1361400" cy="32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u="sng">
                <a:solidFill>
                  <a:schemeClr val="lt1"/>
                </a:solidFill>
                <a:latin typeface="Lato"/>
                <a:ea typeface="Lato"/>
                <a:cs typeface="Lato"/>
                <a:sym typeface="Lato"/>
              </a:rPr>
              <a:t>Instance 1</a:t>
            </a:r>
            <a:endParaRPr sz="1300" u="sng">
              <a:solidFill>
                <a:schemeClr val="lt1"/>
              </a:solidFill>
              <a:latin typeface="Lato"/>
              <a:ea typeface="Lato"/>
              <a:cs typeface="Lato"/>
              <a:sym typeface="Lato"/>
            </a:endParaRPr>
          </a:p>
        </p:txBody>
      </p:sp>
      <p:sp>
        <p:nvSpPr>
          <p:cNvPr id="222" name="Google Shape;222;p24"/>
          <p:cNvSpPr txBox="1"/>
          <p:nvPr/>
        </p:nvSpPr>
        <p:spPr>
          <a:xfrm>
            <a:off x="3186200" y="1594975"/>
            <a:ext cx="2470800" cy="32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300" u="sng">
                <a:solidFill>
                  <a:schemeClr val="lt1"/>
                </a:solidFill>
                <a:latin typeface="Lato"/>
                <a:ea typeface="Lato"/>
                <a:cs typeface="Lato"/>
                <a:sym typeface="Lato"/>
              </a:rPr>
              <a:t>Instance 2</a:t>
            </a:r>
            <a:endParaRPr sz="1300" u="sng">
              <a:solidFill>
                <a:schemeClr val="lt1"/>
              </a:solidFill>
              <a:latin typeface="Lato"/>
              <a:ea typeface="Lato"/>
              <a:cs typeface="Lato"/>
              <a:sym typeface="Lato"/>
            </a:endParaRPr>
          </a:p>
        </p:txBody>
      </p:sp>
      <p:sp>
        <p:nvSpPr>
          <p:cNvPr id="223" name="Google Shape;223;p24"/>
          <p:cNvSpPr txBox="1"/>
          <p:nvPr/>
        </p:nvSpPr>
        <p:spPr>
          <a:xfrm>
            <a:off x="3063050" y="1919875"/>
            <a:ext cx="2980800" cy="322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dirty="0">
                <a:solidFill>
                  <a:schemeClr val="lt1"/>
                </a:solidFill>
              </a:rPr>
              <a:t>We can check retrieval separately, and retrieval is sound. When we query 'Who won the football championship?', it returns two relevant football articles — and a review of the video game Championship Manager, tagged tech. That third hit isn't a bug; it's evidence the retriever is matching on meaning rather than keywords, because it understood 'championship' in a sense our query never disambiguated. </a:t>
            </a:r>
            <a:endParaRPr sz="1200" dirty="0">
              <a:solidFill>
                <a:schemeClr val="lt1"/>
              </a:solidFill>
              <a:latin typeface="Lato"/>
              <a:ea typeface="Lato"/>
              <a:cs typeface="Lato"/>
              <a:sym typeface="Lato"/>
            </a:endParaRPr>
          </a:p>
        </p:txBody>
      </p:sp>
      <p:sp>
        <p:nvSpPr>
          <p:cNvPr id="224" name="Google Shape;224;p24"/>
          <p:cNvSpPr txBox="1"/>
          <p:nvPr/>
        </p:nvSpPr>
        <p:spPr>
          <a:xfrm>
            <a:off x="6060500" y="1891925"/>
            <a:ext cx="3038700" cy="3251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dirty="0">
                <a:solidFill>
                  <a:schemeClr val="lt1"/>
                </a:solidFill>
              </a:rPr>
              <a:t>Flan-T5-base is small, so its answers are terse </a:t>
            </a:r>
            <a:endParaRPr sz="1200" dirty="0">
              <a:solidFill>
                <a:schemeClr val="lt1"/>
              </a:solidFill>
            </a:endParaRPr>
          </a:p>
          <a:p>
            <a:pPr marL="0" lvl="0" indent="0" algn="l" rtl="0">
              <a:lnSpc>
                <a:spcPct val="115000"/>
              </a:lnSpc>
              <a:spcBef>
                <a:spcPts val="0"/>
              </a:spcBef>
              <a:spcAft>
                <a:spcPts val="0"/>
              </a:spcAft>
              <a:buNone/>
            </a:pPr>
            <a:r>
              <a:rPr lang="en-GB" sz="1200" dirty="0">
                <a:solidFill>
                  <a:schemeClr val="lt1"/>
                </a:solidFill>
              </a:rPr>
              <a:t>some of our own questions aren't answerable from this corpus </a:t>
            </a:r>
            <a:endParaRPr sz="1200" dirty="0">
              <a:solidFill>
                <a:schemeClr val="lt1"/>
              </a:solidFill>
            </a:endParaRPr>
          </a:p>
          <a:p>
            <a:pPr marL="0" lvl="0" indent="0" algn="l" rtl="0">
              <a:lnSpc>
                <a:spcPct val="115000"/>
              </a:lnSpc>
              <a:spcBef>
                <a:spcPts val="0"/>
              </a:spcBef>
              <a:spcAft>
                <a:spcPts val="0"/>
              </a:spcAft>
              <a:buNone/>
            </a:pPr>
            <a:r>
              <a:rPr lang="en-GB" sz="1200" dirty="0">
                <a:solidFill>
                  <a:schemeClr val="lt1"/>
                </a:solidFill>
              </a:rPr>
              <a:t>What we should have done is measure retrieval and generation separately </a:t>
            </a:r>
            <a:endParaRPr sz="1200" dirty="0">
              <a:solidFill>
                <a:schemeClr val="lt1"/>
              </a:solidFill>
            </a:endParaRPr>
          </a:p>
          <a:p>
            <a:pPr marL="0" lvl="0" indent="0" algn="l" rtl="0">
              <a:lnSpc>
                <a:spcPct val="115000"/>
              </a:lnSpc>
              <a:spcBef>
                <a:spcPts val="0"/>
              </a:spcBef>
              <a:spcAft>
                <a:spcPts val="0"/>
              </a:spcAft>
              <a:buNone/>
            </a:pPr>
            <a:r>
              <a:rPr lang="en-GB" sz="1200" dirty="0" err="1">
                <a:solidFill>
                  <a:schemeClr val="lt1"/>
                </a:solidFill>
              </a:rPr>
              <a:t>Recall@k</a:t>
            </a:r>
            <a:r>
              <a:rPr lang="en-GB" sz="1200" dirty="0">
                <a:solidFill>
                  <a:schemeClr val="lt1"/>
                </a:solidFill>
              </a:rPr>
              <a:t> for the retriever — and score answers with something like </a:t>
            </a:r>
            <a:r>
              <a:rPr lang="en-GB" sz="1200" dirty="0" err="1">
                <a:solidFill>
                  <a:schemeClr val="lt1"/>
                </a:solidFill>
              </a:rPr>
              <a:t>BERTScore</a:t>
            </a:r>
            <a:r>
              <a:rPr lang="en-GB" sz="1200" dirty="0">
                <a:solidFill>
                  <a:schemeClr val="lt1"/>
                </a:solidFill>
              </a:rPr>
              <a:t> that credits correct paraphrases. </a:t>
            </a:r>
            <a:endParaRPr sz="1200" dirty="0">
              <a:solidFill>
                <a:schemeClr val="lt1"/>
              </a:solidFill>
            </a:endParaRPr>
          </a:p>
        </p:txBody>
      </p:sp>
      <p:cxnSp>
        <p:nvCxnSpPr>
          <p:cNvPr id="225" name="Google Shape;225;p24"/>
          <p:cNvCxnSpPr/>
          <p:nvPr/>
        </p:nvCxnSpPr>
        <p:spPr>
          <a:xfrm>
            <a:off x="3057350" y="1684625"/>
            <a:ext cx="5700" cy="3434700"/>
          </a:xfrm>
          <a:prstGeom prst="straightConnector1">
            <a:avLst/>
          </a:prstGeom>
          <a:noFill/>
          <a:ln w="9525" cap="flat" cmpd="sng">
            <a:solidFill>
              <a:schemeClr val="dk2"/>
            </a:solidFill>
            <a:prstDash val="solid"/>
            <a:round/>
            <a:headEnd type="none" w="med" len="med"/>
            <a:tailEnd type="none" w="med" len="med"/>
          </a:ln>
        </p:spPr>
      </p:cxnSp>
      <p:cxnSp>
        <p:nvCxnSpPr>
          <p:cNvPr id="226" name="Google Shape;226;p24"/>
          <p:cNvCxnSpPr/>
          <p:nvPr/>
        </p:nvCxnSpPr>
        <p:spPr>
          <a:xfrm>
            <a:off x="6043700" y="1707025"/>
            <a:ext cx="16800" cy="34176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Streamlit</a:t>
            </a:r>
            <a:endParaRPr/>
          </a:p>
        </p:txBody>
      </p:sp>
      <p:sp>
        <p:nvSpPr>
          <p:cNvPr id="232" name="Google Shape;232;p2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a:latin typeface="Arial"/>
                <a:ea typeface="Arial"/>
                <a:cs typeface="Arial"/>
                <a:sym typeface="Arial"/>
              </a:rPr>
              <a:t>TAB 1</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Where you paste any news text and get a live category prediction with confidence scores.</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Tab 2</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Where you can ask the RAG chatbot a question and see both its answer and the source articles it retrieved. </a:t>
            </a:r>
            <a:endParaRPr sz="1200">
              <a:latin typeface="Arial"/>
              <a:ea typeface="Arial"/>
              <a:cs typeface="Arial"/>
              <a:sym typeface="Arial"/>
            </a:endParaRPr>
          </a:p>
          <a:p>
            <a:pPr marL="0" lvl="0" indent="0" algn="l" rtl="0">
              <a:spcBef>
                <a:spcPts val="1200"/>
              </a:spcBef>
              <a:spcAft>
                <a:spcPts val="0"/>
              </a:spcAft>
              <a:buNone/>
            </a:pP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(Start Hopeful Live demonstration here)</a:t>
            </a:r>
            <a:endParaRPr sz="12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Conclusion</a:t>
            </a:r>
            <a:endParaRPr/>
          </a:p>
        </p:txBody>
      </p:sp>
      <p:sp>
        <p:nvSpPr>
          <p:cNvPr id="238" name="Google Shape;238;p26"/>
          <p:cNvSpPr txBox="1">
            <a:spLocks noGrp="1"/>
          </p:cNvSpPr>
          <p:nvPr>
            <p:ph type="body" idx="1"/>
          </p:nvPr>
        </p:nvSpPr>
        <p:spPr>
          <a:xfrm>
            <a:off x="1297500" y="1567550"/>
            <a:ext cx="7038900" cy="334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a:latin typeface="Arial"/>
                <a:ea typeface="Arial"/>
                <a:cs typeface="Arial"/>
                <a:sym typeface="Arial"/>
              </a:rPr>
              <a:t>Built a complete pipeline from raw text to a deployed, working chatbot.</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Unsupervised topic discovery, three classical classifiers, two deep learning approaches, an explainability layer, and a retrieval-based question-answering system.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Pre-training, not depth, is what separates these models </a:t>
            </a:r>
            <a:endParaRPr sz="1200">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	The best model on the leaderboard isn't always the right model to ship. </a:t>
            </a:r>
            <a:endParaRPr sz="1200">
              <a:latin typeface="Arial"/>
              <a:ea typeface="Arial"/>
              <a:cs typeface="Arial"/>
              <a:sym typeface="Arial"/>
            </a:endParaRPr>
          </a:p>
          <a:p>
            <a:pPr marL="0" lvl="0" indent="0" algn="l" rtl="0">
              <a:spcBef>
                <a:spcPts val="1200"/>
              </a:spcBef>
              <a:spcAft>
                <a:spcPts val="0"/>
              </a:spcAft>
              <a:buNone/>
            </a:pPr>
            <a:r>
              <a:rPr lang="en-GB" sz="1200" b="1" u="sng">
                <a:latin typeface="Arial"/>
                <a:ea typeface="Arial"/>
                <a:cs typeface="Arial"/>
                <a:sym typeface="Arial"/>
              </a:rPr>
              <a:t>Future work </a:t>
            </a:r>
            <a:endParaRPr sz="1200" b="1" u="sng">
              <a:latin typeface="Arial"/>
              <a:ea typeface="Arial"/>
              <a:cs typeface="Arial"/>
              <a:sym typeface="Arial"/>
            </a:endParaRPr>
          </a:p>
          <a:p>
            <a:pPr marL="0" lvl="0" indent="0" algn="l" rtl="0">
              <a:spcBef>
                <a:spcPts val="1200"/>
              </a:spcBef>
              <a:spcAft>
                <a:spcPts val="0"/>
              </a:spcAft>
              <a:buNone/>
            </a:pPr>
            <a:r>
              <a:rPr lang="en-GB" sz="1200">
                <a:latin typeface="Arial"/>
                <a:ea typeface="Arial"/>
                <a:cs typeface="Arial"/>
                <a:sym typeface="Arial"/>
              </a:rPr>
              <a:t>The cleanest next experiment is to initialise that same LSTM from pretrained GloVe or FastText embeddings</a:t>
            </a:r>
            <a:endParaRPr sz="1200">
              <a:latin typeface="Arial"/>
              <a:ea typeface="Arial"/>
              <a:cs typeface="Arial"/>
              <a:sym typeface="Arial"/>
            </a:endParaRPr>
          </a:p>
          <a:p>
            <a:pPr marL="0" lvl="0" indent="0" algn="l" rtl="0">
              <a:spcBef>
                <a:spcPts val="1200"/>
              </a:spcBef>
              <a:spcAft>
                <a:spcPts val="1200"/>
              </a:spcAft>
              <a:buNone/>
            </a:pPr>
            <a:r>
              <a:rPr lang="en-GB" sz="1200">
                <a:latin typeface="Arial"/>
                <a:ea typeface="Arial"/>
                <a:cs typeface="Arial"/>
                <a:sym typeface="Arial"/>
              </a:rPr>
              <a:t>We'd also rebuild the RAG evaluation to measure retrieval and generation separately, and test our 'no headroom' explanation on a harder corpus — something like sarcasm or fine-grained sentiment.  </a:t>
            </a:r>
            <a:endParaRPr sz="1200">
              <a:latin typeface="Arial"/>
              <a:ea typeface="Arial"/>
              <a:cs typeface="Arial"/>
              <a:sym typeface="Arial"/>
            </a:endParaRPr>
          </a:p>
        </p:txBody>
      </p:sp>
      <p:cxnSp>
        <p:nvCxnSpPr>
          <p:cNvPr id="239" name="Google Shape;239;p26"/>
          <p:cNvCxnSpPr/>
          <p:nvPr/>
        </p:nvCxnSpPr>
        <p:spPr>
          <a:xfrm rot="10800000">
            <a:off x="25" y="3206125"/>
            <a:ext cx="9136500" cy="249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7"/>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Thank You</a:t>
            </a:r>
            <a:endParaRPr/>
          </a:p>
        </p:txBody>
      </p:sp>
      <p:sp>
        <p:nvSpPr>
          <p:cNvPr id="245" name="Google Shape;245;p27"/>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Questions?</a:t>
            </a:r>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1140</Words>
  <Application>Microsoft Office PowerPoint</Application>
  <PresentationFormat>On-screen Show (16:9)</PresentationFormat>
  <Paragraphs>125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Montserrat</vt:lpstr>
      <vt:lpstr>Lato</vt:lpstr>
      <vt:lpstr>Arial</vt:lpstr>
      <vt:lpstr>Focus</vt:lpstr>
      <vt:lpstr>NLP BBC Project</vt:lpstr>
      <vt:lpstr>What is our project</vt:lpstr>
      <vt:lpstr>Preprocessing</vt:lpstr>
      <vt:lpstr>Feature Engineering</vt:lpstr>
      <vt:lpstr>Topic Modelling (Unsupervised)</vt:lpstr>
      <vt:lpstr>Topic Modelling (Supervised)</vt:lpstr>
      <vt:lpstr>Explainability</vt:lpstr>
      <vt:lpstr>Deep Learning</vt:lpstr>
      <vt:lpstr>Deep Learning Continued</vt:lpstr>
      <vt:lpstr>RAG</vt:lpstr>
      <vt:lpstr>PowerPoint Presentation</vt:lpstr>
      <vt:lpstr>RAG Continued</vt:lpstr>
      <vt:lpstr>Streamlit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Daniela Cook</cp:lastModifiedBy>
  <cp:revision>1</cp:revision>
  <dcterms:modified xsi:type="dcterms:W3CDTF">2026-07-21T18:33:53Z</dcterms:modified>
</cp:coreProperties>
</file>